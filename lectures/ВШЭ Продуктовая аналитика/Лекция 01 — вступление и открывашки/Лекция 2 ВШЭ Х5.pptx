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7"/>
  </p:notesMasterIdLst>
  <p:handoutMasterIdLst>
    <p:handoutMasterId r:id="rId38"/>
  </p:handoutMasterIdLst>
  <p:sldIdLst>
    <p:sldId id="256" r:id="rId2"/>
    <p:sldId id="272" r:id="rId3"/>
    <p:sldId id="276" r:id="rId4"/>
    <p:sldId id="277" r:id="rId5"/>
    <p:sldId id="294" r:id="rId6"/>
    <p:sldId id="296" r:id="rId7"/>
    <p:sldId id="298" r:id="rId8"/>
    <p:sldId id="297" r:id="rId9"/>
    <p:sldId id="299" r:id="rId10"/>
    <p:sldId id="300" r:id="rId11"/>
    <p:sldId id="278" r:id="rId12"/>
    <p:sldId id="274" r:id="rId13"/>
    <p:sldId id="275" r:id="rId14"/>
    <p:sldId id="279" r:id="rId15"/>
    <p:sldId id="280" r:id="rId16"/>
    <p:sldId id="281" r:id="rId17"/>
    <p:sldId id="258" r:id="rId18"/>
    <p:sldId id="283" r:id="rId19"/>
    <p:sldId id="259" r:id="rId20"/>
    <p:sldId id="260" r:id="rId21"/>
    <p:sldId id="261" r:id="rId22"/>
    <p:sldId id="262" r:id="rId23"/>
    <p:sldId id="301" r:id="rId24"/>
    <p:sldId id="257" r:id="rId25"/>
    <p:sldId id="302" r:id="rId26"/>
    <p:sldId id="303" r:id="rId27"/>
    <p:sldId id="304" r:id="rId28"/>
    <p:sldId id="305" r:id="rId29"/>
    <p:sldId id="306" r:id="rId30"/>
    <p:sldId id="263" r:id="rId31"/>
    <p:sldId id="307" r:id="rId32"/>
    <p:sldId id="308" r:id="rId33"/>
    <p:sldId id="309" r:id="rId34"/>
    <p:sldId id="310" r:id="rId35"/>
    <p:sldId id="311" r:id="rId36"/>
  </p:sldIdLst>
  <p:sldSz cx="9144000" cy="5143500" type="screen16x9"/>
  <p:notesSz cx="6858000" cy="9144000"/>
  <p:embeddedFontLst>
    <p:embeddedFont>
      <p:font typeface="Exo 2" pitchFamily="2" charset="0"/>
      <p:regular r:id="rId39"/>
      <p:bold r:id="rId40"/>
    </p:embeddedFont>
    <p:embeddedFont>
      <p:font typeface="Roboto" panose="020000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6" userDrawn="1">
          <p15:clr>
            <a:srgbClr val="747775"/>
          </p15:clr>
        </p15:guide>
        <p15:guide id="2" pos="113" userDrawn="1">
          <p15:clr>
            <a:srgbClr val="747775"/>
          </p15:clr>
        </p15:guide>
        <p15:guide id="3" pos="5647" userDrawn="1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FF57"/>
    <a:srgbClr val="DCFFB0"/>
    <a:srgbClr val="B4FA56"/>
    <a:srgbClr val="14181C"/>
    <a:srgbClr val="0532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62"/>
    <p:restoredTop sz="94638"/>
  </p:normalViewPr>
  <p:slideViewPr>
    <p:cSldViewPr snapToGrid="0">
      <p:cViewPr varScale="1">
        <p:scale>
          <a:sx n="170" d="100"/>
          <a:sy n="170" d="100"/>
        </p:scale>
        <p:origin x="656" y="184"/>
      </p:cViewPr>
      <p:guideLst>
        <p:guide orient="horz" pos="146"/>
        <p:guide pos="113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4" d="100"/>
          <a:sy n="124" d="100"/>
        </p:scale>
        <p:origin x="322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2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AE90609-8783-3BE8-B83F-A5813CF052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18F9776-7D79-7B0E-2135-848C2C4F95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8E34DD-E889-6743-A8CB-21756B3356C6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6753DC2-59B6-6EE2-DB9B-75E36D4241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366BE1-E67D-44BE-FD56-D6819CDBB5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BA62A-7F7E-2A41-BBB6-940E426D48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58908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8d9e738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8d9e738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8490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8d9e738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8d9e738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3328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8d9e738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8d9e738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6718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8d9e738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8d9e738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3434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8d9e738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8d9e738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7451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8d9e738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8d9e738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0020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8d9e738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8d9e738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651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8d9e738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8d9e738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5066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9de58a03b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9de58a03bf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61649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98d9e738a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98d9e738a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9961c9b93b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9961c9b93b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9961c9b93b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9961c9b93b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9961c9b93b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9961c9b93b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9961c9b93b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9961c9b93b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01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213682-75E8-9187-1081-B360E726D6D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075924" y="129125"/>
            <a:ext cx="923693" cy="268948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9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21715" y="3098765"/>
            <a:ext cx="8520600" cy="1148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dirty="0">
                <a:solidFill>
                  <a:schemeClr val="bg1"/>
                </a:solidFill>
              </a:rPr>
              <a:t>ЦЕЛИ И ЭФФЕКТИВНОСТЬ МАРКЕТИНГА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21715" y="4410117"/>
            <a:ext cx="8520600" cy="4815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0" algn="l"/>
            <a:r>
              <a:rPr lang="ru-RU" sz="2000" dirty="0">
                <a:solidFill>
                  <a:srgbClr val="B8FF57"/>
                </a:solidFill>
              </a:rPr>
              <a:t>Садчиков Кирилл (</a:t>
            </a:r>
            <a:r>
              <a:rPr lang="en-US" sz="2000" dirty="0">
                <a:solidFill>
                  <a:srgbClr val="B8FF57"/>
                </a:solidFill>
              </a:rPr>
              <a:t>@</a:t>
            </a:r>
            <a:r>
              <a:rPr lang="en-US" sz="2000" dirty="0" err="1">
                <a:solidFill>
                  <a:srgbClr val="B8FF57"/>
                </a:solidFill>
              </a:rPr>
              <a:t>Kirish_molodez</a:t>
            </a:r>
            <a:r>
              <a:rPr lang="ru-RU" sz="2000" dirty="0">
                <a:solidFill>
                  <a:srgbClr val="B8FF57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334A82-3E0D-B0C9-482F-AC947BAD468A}"/>
              </a:ext>
            </a:extLst>
          </p:cNvPr>
          <p:cNvSpPr txBox="1"/>
          <p:nvPr/>
        </p:nvSpPr>
        <p:spPr>
          <a:xfrm>
            <a:off x="244017" y="264809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Лекция 1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6B74C5F-7095-DEEA-46DB-C41BD3F35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688" y="339725"/>
            <a:ext cx="958764" cy="279159"/>
          </a:xfrm>
          <a:prstGeom prst="rect">
            <a:avLst/>
          </a:prstGeom>
        </p:spPr>
      </p:pic>
      <p:sp>
        <p:nvSpPr>
          <p:cNvPr id="7" name="Молния 6">
            <a:extLst>
              <a:ext uri="{FF2B5EF4-FFF2-40B4-BE49-F238E27FC236}">
                <a16:creationId xmlns:a16="http://schemas.microsoft.com/office/drawing/2014/main" id="{CC84F962-80A6-9C93-68A1-AC3547B9A531}"/>
              </a:ext>
            </a:extLst>
          </p:cNvPr>
          <p:cNvSpPr/>
          <p:nvPr/>
        </p:nvSpPr>
        <p:spPr>
          <a:xfrm rot="21030840">
            <a:off x="3873544" y="-1553584"/>
            <a:ext cx="5641341" cy="5641341"/>
          </a:xfrm>
          <a:prstGeom prst="lightningBolt">
            <a:avLst/>
          </a:prstGeom>
          <a:solidFill>
            <a:srgbClr val="B8F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616B4BCB-6983-7927-2048-2BCA66C9B953}"/>
              </a:ext>
            </a:extLst>
          </p:cNvPr>
          <p:cNvSpPr/>
          <p:nvPr/>
        </p:nvSpPr>
        <p:spPr>
          <a:xfrm>
            <a:off x="1743306" y="3076363"/>
            <a:ext cx="1003611" cy="1003611"/>
          </a:xfrm>
          <a:prstGeom prst="roundRect">
            <a:avLst>
              <a:gd name="adj" fmla="val 12369"/>
            </a:avLst>
          </a:prstGeom>
          <a:solidFill>
            <a:srgbClr val="B8F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1B70C4-2735-D40E-9BF0-1D3699510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004" y="1330088"/>
            <a:ext cx="1808355" cy="2450845"/>
          </a:xfrm>
          <a:prstGeom prst="roundRect">
            <a:avLst>
              <a:gd name="adj" fmla="val 8527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72EE68-785A-E2A3-3AFA-6DC876BBBBEA}"/>
              </a:ext>
            </a:extLst>
          </p:cNvPr>
          <p:cNvSpPr txBox="1"/>
          <p:nvPr/>
        </p:nvSpPr>
        <p:spPr>
          <a:xfrm>
            <a:off x="4371278" y="1934889"/>
            <a:ext cx="2668859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dirty="0"/>
              <a:t>Я точно знаю, что половина моих рекламных денег тратится впустую, вот только не знаю — какая…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1A9B91-700B-BDF1-1574-242374AC185F}"/>
              </a:ext>
            </a:extLst>
          </p:cNvPr>
          <p:cNvSpPr txBox="1"/>
          <p:nvPr/>
        </p:nvSpPr>
        <p:spPr>
          <a:xfrm>
            <a:off x="4269057" y="2856723"/>
            <a:ext cx="2668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Джон </a:t>
            </a:r>
            <a:r>
              <a:rPr lang="ru-RU" i="1" dirty="0" err="1">
                <a:latin typeface="Arial" panose="020B0604020202020204" pitchFamily="34" charset="0"/>
                <a:cs typeface="Arial" panose="020B0604020202020204" pitchFamily="34" charset="0"/>
              </a:rPr>
              <a:t>Ванамейкер</a:t>
            </a:r>
            <a:endParaRPr lang="ru-RU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667A3B-AFE9-06D7-C1E6-28D5FC3C9F1A}"/>
              </a:ext>
            </a:extLst>
          </p:cNvPr>
          <p:cNvSpPr txBox="1"/>
          <p:nvPr/>
        </p:nvSpPr>
        <p:spPr>
          <a:xfrm>
            <a:off x="6668429" y="2032905"/>
            <a:ext cx="2668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b="1" dirty="0">
              <a:solidFill>
                <a:schemeClr val="tx1"/>
              </a:solidFill>
              <a:latin typeface="Exo 2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1A196B-36D6-FD3B-B3F6-404158EC5C0D}"/>
              </a:ext>
            </a:extLst>
          </p:cNvPr>
          <p:cNvSpPr txBox="1"/>
          <p:nvPr/>
        </p:nvSpPr>
        <p:spPr>
          <a:xfrm>
            <a:off x="3678042" y="1273170"/>
            <a:ext cx="5910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0" b="0" i="0" u="none" strike="noStrike" cap="none" normalizeH="0" baseline="0" dirty="0">
                <a:ln>
                  <a:noFill/>
                </a:ln>
                <a:solidFill>
                  <a:srgbClr val="B8FF57"/>
                </a:solidFill>
                <a:effectLst/>
                <a:latin typeface="+mn-lt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242465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0" y="117235"/>
            <a:ext cx="4899637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 dirty="0">
                <a:latin typeface="Arial" panose="020B0604020202020204" pitchFamily="34" charset="0"/>
                <a:cs typeface="Arial" panose="020B0604020202020204" pitchFamily="34" charset="0"/>
              </a:rPr>
              <a:t>Цели маркетинга?</a:t>
            </a:r>
            <a:endParaRPr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150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hidden="1">
            <a:extLst>
              <a:ext uri="{FF2B5EF4-FFF2-40B4-BE49-F238E27FC236}">
                <a16:creationId xmlns:a16="http://schemas.microsoft.com/office/drawing/2014/main" id="{C989A767-6CE0-0A41-6188-49785BEBE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85" y="-882016"/>
            <a:ext cx="6937830" cy="6907532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AF57C3E-70B2-7344-1F5F-EDA561C213D7}"/>
              </a:ext>
            </a:extLst>
          </p:cNvPr>
          <p:cNvSpPr/>
          <p:nvPr/>
        </p:nvSpPr>
        <p:spPr>
          <a:xfrm>
            <a:off x="186146" y="1008670"/>
            <a:ext cx="2100735" cy="1689773"/>
          </a:xfrm>
          <a:prstGeom prst="roundRect">
            <a:avLst>
              <a:gd name="adj" fmla="val 9973"/>
            </a:avLst>
          </a:prstGeom>
          <a:solidFill>
            <a:srgbClr val="0532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" sz="1300" dirty="0">
                <a:solidFill>
                  <a:schemeClr val="bg1"/>
                </a:solidFill>
              </a:rPr>
              <a:t>Привлечение пользователей</a:t>
            </a:r>
            <a:endParaRPr lang="ru-RU" sz="1300" dirty="0">
              <a:solidFill>
                <a:schemeClr val="bg1"/>
              </a:solidFill>
            </a:endParaRPr>
          </a:p>
        </p:txBody>
      </p:sp>
      <p:sp>
        <p:nvSpPr>
          <p:cNvPr id="17" name="Google Shape;60;p14">
            <a:extLst>
              <a:ext uri="{FF2B5EF4-FFF2-40B4-BE49-F238E27FC236}">
                <a16:creationId xmlns:a16="http://schemas.microsoft.com/office/drawing/2014/main" id="{37CB67D1-661B-D7B0-D888-586DB3696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7235"/>
            <a:ext cx="4899637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 dirty="0">
                <a:latin typeface="Arial" panose="020B0604020202020204" pitchFamily="34" charset="0"/>
                <a:cs typeface="Arial" panose="020B0604020202020204" pitchFamily="34" charset="0"/>
              </a:rPr>
              <a:t>Цели маркетинга?</a:t>
            </a:r>
            <a:endParaRPr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D32FDB-6220-373B-7D25-7F91B42DBE89}"/>
              </a:ext>
            </a:extLst>
          </p:cNvPr>
          <p:cNvSpPr txBox="1"/>
          <p:nvPr/>
        </p:nvSpPr>
        <p:spPr>
          <a:xfrm>
            <a:off x="1679533" y="1769269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61233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hidden="1">
            <a:extLst>
              <a:ext uri="{FF2B5EF4-FFF2-40B4-BE49-F238E27FC236}">
                <a16:creationId xmlns:a16="http://schemas.microsoft.com/office/drawing/2014/main" id="{C989A767-6CE0-0A41-6188-49785BEBE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85" y="-882016"/>
            <a:ext cx="6937830" cy="6907532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AF57C3E-70B2-7344-1F5F-EDA561C213D7}"/>
              </a:ext>
            </a:extLst>
          </p:cNvPr>
          <p:cNvSpPr/>
          <p:nvPr/>
        </p:nvSpPr>
        <p:spPr>
          <a:xfrm>
            <a:off x="186146" y="1008670"/>
            <a:ext cx="2100735" cy="1689773"/>
          </a:xfrm>
          <a:prstGeom prst="roundRect">
            <a:avLst>
              <a:gd name="adj" fmla="val 9973"/>
            </a:avLst>
          </a:prstGeom>
          <a:solidFill>
            <a:srgbClr val="0532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" sz="1300" dirty="0">
                <a:solidFill>
                  <a:schemeClr val="bg1"/>
                </a:solidFill>
              </a:rPr>
              <a:t>Привлечение пользователей</a:t>
            </a:r>
            <a:endParaRPr lang="ru-RU" sz="1300" dirty="0">
              <a:solidFill>
                <a:schemeClr val="bg1"/>
              </a:solidFill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70DA9CB0-1413-5B75-6A8A-97B964C5CD84}"/>
              </a:ext>
            </a:extLst>
          </p:cNvPr>
          <p:cNvSpPr/>
          <p:nvPr/>
        </p:nvSpPr>
        <p:spPr>
          <a:xfrm>
            <a:off x="2409804" y="1008670"/>
            <a:ext cx="2100735" cy="1689773"/>
          </a:xfrm>
          <a:prstGeom prst="roundRect">
            <a:avLst>
              <a:gd name="adj" fmla="val 10530"/>
            </a:avLst>
          </a:prstGeom>
          <a:solidFill>
            <a:srgbClr val="B8FF5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tx1"/>
                </a:solidFill>
              </a:rPr>
              <a:t>Активация</a:t>
            </a:r>
            <a:endParaRPr lang="ru-RU" sz="1300" dirty="0"/>
          </a:p>
        </p:txBody>
      </p:sp>
      <p:sp>
        <p:nvSpPr>
          <p:cNvPr id="17" name="Google Shape;60;p14">
            <a:extLst>
              <a:ext uri="{FF2B5EF4-FFF2-40B4-BE49-F238E27FC236}">
                <a16:creationId xmlns:a16="http://schemas.microsoft.com/office/drawing/2014/main" id="{37CB67D1-661B-D7B0-D888-586DB3696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7235"/>
            <a:ext cx="4899637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 dirty="0">
                <a:latin typeface="Arial" panose="020B0604020202020204" pitchFamily="34" charset="0"/>
                <a:cs typeface="Arial" panose="020B0604020202020204" pitchFamily="34" charset="0"/>
              </a:rPr>
              <a:t>Цели маркетинга?</a:t>
            </a:r>
            <a:endParaRPr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D32FDB-6220-373B-7D25-7F91B42DBE89}"/>
              </a:ext>
            </a:extLst>
          </p:cNvPr>
          <p:cNvSpPr txBox="1"/>
          <p:nvPr/>
        </p:nvSpPr>
        <p:spPr>
          <a:xfrm>
            <a:off x="1679533" y="1769269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EA7D21-6E44-55DF-C6F3-96687FEDDC0A}"/>
              </a:ext>
            </a:extLst>
          </p:cNvPr>
          <p:cNvSpPr txBox="1"/>
          <p:nvPr/>
        </p:nvSpPr>
        <p:spPr>
          <a:xfrm>
            <a:off x="3881196" y="1794861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0532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27794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hidden="1">
            <a:extLst>
              <a:ext uri="{FF2B5EF4-FFF2-40B4-BE49-F238E27FC236}">
                <a16:creationId xmlns:a16="http://schemas.microsoft.com/office/drawing/2014/main" id="{C989A767-6CE0-0A41-6188-49785BEBE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85" y="-882016"/>
            <a:ext cx="6937830" cy="6907532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AF57C3E-70B2-7344-1F5F-EDA561C213D7}"/>
              </a:ext>
            </a:extLst>
          </p:cNvPr>
          <p:cNvSpPr/>
          <p:nvPr/>
        </p:nvSpPr>
        <p:spPr>
          <a:xfrm>
            <a:off x="186146" y="1008670"/>
            <a:ext cx="2100735" cy="1689773"/>
          </a:xfrm>
          <a:prstGeom prst="roundRect">
            <a:avLst>
              <a:gd name="adj" fmla="val 9973"/>
            </a:avLst>
          </a:prstGeom>
          <a:solidFill>
            <a:srgbClr val="0532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" sz="1300" dirty="0">
                <a:solidFill>
                  <a:schemeClr val="bg1"/>
                </a:solidFill>
              </a:rPr>
              <a:t>Привлечение пользователей</a:t>
            </a:r>
            <a:endParaRPr lang="ru-RU" sz="1300" dirty="0">
              <a:solidFill>
                <a:schemeClr val="bg1"/>
              </a:solidFill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70DA9CB0-1413-5B75-6A8A-97B964C5CD84}"/>
              </a:ext>
            </a:extLst>
          </p:cNvPr>
          <p:cNvSpPr/>
          <p:nvPr/>
        </p:nvSpPr>
        <p:spPr>
          <a:xfrm>
            <a:off x="2409804" y="1008670"/>
            <a:ext cx="2100735" cy="1689773"/>
          </a:xfrm>
          <a:prstGeom prst="roundRect">
            <a:avLst>
              <a:gd name="adj" fmla="val 10530"/>
            </a:avLst>
          </a:prstGeom>
          <a:solidFill>
            <a:srgbClr val="B8FF5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tx1"/>
                </a:solidFill>
              </a:rPr>
              <a:t>Активация</a:t>
            </a:r>
            <a:endParaRPr lang="ru-RU" sz="1300" dirty="0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AC7F3CF-AB3C-E5FA-A0BF-CB7151199629}"/>
              </a:ext>
            </a:extLst>
          </p:cNvPr>
          <p:cNvSpPr/>
          <p:nvPr/>
        </p:nvSpPr>
        <p:spPr>
          <a:xfrm>
            <a:off x="4633462" y="1008670"/>
            <a:ext cx="2100735" cy="1689773"/>
          </a:xfrm>
          <a:prstGeom prst="roundRect">
            <a:avLst>
              <a:gd name="adj" fmla="val 11088"/>
            </a:avLst>
          </a:prstGeom>
          <a:solidFill>
            <a:srgbClr val="B8F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tx1"/>
                </a:solidFill>
              </a:rPr>
              <a:t>Удержание и реактивация </a:t>
            </a:r>
          </a:p>
        </p:txBody>
      </p:sp>
      <p:sp>
        <p:nvSpPr>
          <p:cNvPr id="17" name="Google Shape;60;p14">
            <a:extLst>
              <a:ext uri="{FF2B5EF4-FFF2-40B4-BE49-F238E27FC236}">
                <a16:creationId xmlns:a16="http://schemas.microsoft.com/office/drawing/2014/main" id="{37CB67D1-661B-D7B0-D888-586DB3696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7235"/>
            <a:ext cx="4899637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 dirty="0">
                <a:latin typeface="Arial" panose="020B0604020202020204" pitchFamily="34" charset="0"/>
                <a:cs typeface="Arial" panose="020B0604020202020204" pitchFamily="34" charset="0"/>
              </a:rPr>
              <a:t>Цели маркетинга?</a:t>
            </a:r>
            <a:endParaRPr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D32FDB-6220-373B-7D25-7F91B42DBE89}"/>
              </a:ext>
            </a:extLst>
          </p:cNvPr>
          <p:cNvSpPr txBox="1"/>
          <p:nvPr/>
        </p:nvSpPr>
        <p:spPr>
          <a:xfrm>
            <a:off x="1679533" y="1769269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EA7D21-6E44-55DF-C6F3-96687FEDDC0A}"/>
              </a:ext>
            </a:extLst>
          </p:cNvPr>
          <p:cNvSpPr txBox="1"/>
          <p:nvPr/>
        </p:nvSpPr>
        <p:spPr>
          <a:xfrm>
            <a:off x="3881196" y="1794861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0532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DACDE4-AD71-A80C-111E-C463286AA924}"/>
              </a:ext>
            </a:extLst>
          </p:cNvPr>
          <p:cNvSpPr txBox="1"/>
          <p:nvPr/>
        </p:nvSpPr>
        <p:spPr>
          <a:xfrm>
            <a:off x="6099534" y="1794861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1418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40195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hidden="1">
            <a:extLst>
              <a:ext uri="{FF2B5EF4-FFF2-40B4-BE49-F238E27FC236}">
                <a16:creationId xmlns:a16="http://schemas.microsoft.com/office/drawing/2014/main" id="{C989A767-6CE0-0A41-6188-49785BEBE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85" y="-882016"/>
            <a:ext cx="6937830" cy="6907532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AF57C3E-70B2-7344-1F5F-EDA561C213D7}"/>
              </a:ext>
            </a:extLst>
          </p:cNvPr>
          <p:cNvSpPr/>
          <p:nvPr/>
        </p:nvSpPr>
        <p:spPr>
          <a:xfrm>
            <a:off x="186146" y="1008670"/>
            <a:ext cx="2100735" cy="1689773"/>
          </a:xfrm>
          <a:prstGeom prst="roundRect">
            <a:avLst>
              <a:gd name="adj" fmla="val 9973"/>
            </a:avLst>
          </a:prstGeom>
          <a:solidFill>
            <a:srgbClr val="0532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" sz="1300" dirty="0">
                <a:solidFill>
                  <a:schemeClr val="bg1"/>
                </a:solidFill>
              </a:rPr>
              <a:t>Привлечение пользователей</a:t>
            </a:r>
            <a:endParaRPr lang="ru-RU" sz="1300" dirty="0">
              <a:solidFill>
                <a:schemeClr val="bg1"/>
              </a:solidFill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70DA9CB0-1413-5B75-6A8A-97B964C5CD84}"/>
              </a:ext>
            </a:extLst>
          </p:cNvPr>
          <p:cNvSpPr/>
          <p:nvPr/>
        </p:nvSpPr>
        <p:spPr>
          <a:xfrm>
            <a:off x="2409804" y="1008670"/>
            <a:ext cx="2100735" cy="1689773"/>
          </a:xfrm>
          <a:prstGeom prst="roundRect">
            <a:avLst>
              <a:gd name="adj" fmla="val 10530"/>
            </a:avLst>
          </a:prstGeom>
          <a:solidFill>
            <a:srgbClr val="B8FF5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tx1"/>
                </a:solidFill>
              </a:rPr>
              <a:t>Активация</a:t>
            </a:r>
            <a:endParaRPr lang="ru-RU" sz="1300" dirty="0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AC7F3CF-AB3C-E5FA-A0BF-CB7151199629}"/>
              </a:ext>
            </a:extLst>
          </p:cNvPr>
          <p:cNvSpPr/>
          <p:nvPr/>
        </p:nvSpPr>
        <p:spPr>
          <a:xfrm>
            <a:off x="4633462" y="1008670"/>
            <a:ext cx="2100735" cy="1689773"/>
          </a:xfrm>
          <a:prstGeom prst="roundRect">
            <a:avLst>
              <a:gd name="adj" fmla="val 11088"/>
            </a:avLst>
          </a:prstGeom>
          <a:solidFill>
            <a:srgbClr val="B8F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tx1"/>
                </a:solidFill>
              </a:rPr>
              <a:t>Удержание и реактивация 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BF8579F-6319-52B3-381B-28A72D2A3B22}"/>
              </a:ext>
            </a:extLst>
          </p:cNvPr>
          <p:cNvSpPr/>
          <p:nvPr/>
        </p:nvSpPr>
        <p:spPr>
          <a:xfrm>
            <a:off x="6857119" y="1008668"/>
            <a:ext cx="2100735" cy="2536866"/>
          </a:xfrm>
          <a:prstGeom prst="roundRect">
            <a:avLst>
              <a:gd name="adj" fmla="val 8141"/>
            </a:avLst>
          </a:prstGeom>
          <a:solidFill>
            <a:srgbClr val="1418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bg1"/>
                </a:solidFill>
              </a:rPr>
              <a:t>Знание и репутация бренда</a:t>
            </a:r>
          </a:p>
        </p:txBody>
      </p:sp>
      <p:sp>
        <p:nvSpPr>
          <p:cNvPr id="17" name="Google Shape;60;p14">
            <a:extLst>
              <a:ext uri="{FF2B5EF4-FFF2-40B4-BE49-F238E27FC236}">
                <a16:creationId xmlns:a16="http://schemas.microsoft.com/office/drawing/2014/main" id="{37CB67D1-661B-D7B0-D888-586DB3696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7235"/>
            <a:ext cx="4899637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 dirty="0">
                <a:latin typeface="Arial" panose="020B0604020202020204" pitchFamily="34" charset="0"/>
                <a:cs typeface="Arial" panose="020B0604020202020204" pitchFamily="34" charset="0"/>
              </a:rPr>
              <a:t>Цели маркетинга?</a:t>
            </a:r>
            <a:endParaRPr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D32FDB-6220-373B-7D25-7F91B42DBE89}"/>
              </a:ext>
            </a:extLst>
          </p:cNvPr>
          <p:cNvSpPr txBox="1"/>
          <p:nvPr/>
        </p:nvSpPr>
        <p:spPr>
          <a:xfrm>
            <a:off x="1679533" y="1769269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EA7D21-6E44-55DF-C6F3-96687FEDDC0A}"/>
              </a:ext>
            </a:extLst>
          </p:cNvPr>
          <p:cNvSpPr txBox="1"/>
          <p:nvPr/>
        </p:nvSpPr>
        <p:spPr>
          <a:xfrm>
            <a:off x="3881196" y="1794861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0532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DACDE4-AD71-A80C-111E-C463286AA924}"/>
              </a:ext>
            </a:extLst>
          </p:cNvPr>
          <p:cNvSpPr txBox="1"/>
          <p:nvPr/>
        </p:nvSpPr>
        <p:spPr>
          <a:xfrm>
            <a:off x="6099534" y="1794861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1418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C37EBD-F3CE-FD81-3637-DEFF0C065D65}"/>
              </a:ext>
            </a:extLst>
          </p:cNvPr>
          <p:cNvSpPr txBox="1"/>
          <p:nvPr/>
        </p:nvSpPr>
        <p:spPr>
          <a:xfrm>
            <a:off x="8327833" y="2593852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DCFF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71094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hidden="1">
            <a:extLst>
              <a:ext uri="{FF2B5EF4-FFF2-40B4-BE49-F238E27FC236}">
                <a16:creationId xmlns:a16="http://schemas.microsoft.com/office/drawing/2014/main" id="{C989A767-6CE0-0A41-6188-49785BEBE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85" y="-882016"/>
            <a:ext cx="6937830" cy="6907532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AF57C3E-70B2-7344-1F5F-EDA561C213D7}"/>
              </a:ext>
            </a:extLst>
          </p:cNvPr>
          <p:cNvSpPr/>
          <p:nvPr/>
        </p:nvSpPr>
        <p:spPr>
          <a:xfrm>
            <a:off x="186146" y="1008670"/>
            <a:ext cx="2100735" cy="1689773"/>
          </a:xfrm>
          <a:prstGeom prst="roundRect">
            <a:avLst>
              <a:gd name="adj" fmla="val 9973"/>
            </a:avLst>
          </a:prstGeom>
          <a:solidFill>
            <a:srgbClr val="0532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" sz="1300" dirty="0">
                <a:solidFill>
                  <a:schemeClr val="bg1"/>
                </a:solidFill>
              </a:rPr>
              <a:t>Привлечение пользователей</a:t>
            </a:r>
            <a:endParaRPr lang="ru-RU" sz="1300" dirty="0">
              <a:solidFill>
                <a:schemeClr val="bg1"/>
              </a:solidFill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70DA9CB0-1413-5B75-6A8A-97B964C5CD84}"/>
              </a:ext>
            </a:extLst>
          </p:cNvPr>
          <p:cNvSpPr/>
          <p:nvPr/>
        </p:nvSpPr>
        <p:spPr>
          <a:xfrm>
            <a:off x="2409804" y="1008670"/>
            <a:ext cx="2100735" cy="1689773"/>
          </a:xfrm>
          <a:prstGeom prst="roundRect">
            <a:avLst>
              <a:gd name="adj" fmla="val 10530"/>
            </a:avLst>
          </a:prstGeom>
          <a:solidFill>
            <a:srgbClr val="B8FF5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tx1"/>
                </a:solidFill>
              </a:rPr>
              <a:t>Активация</a:t>
            </a:r>
            <a:endParaRPr lang="ru-RU" sz="1300" dirty="0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AC7F3CF-AB3C-E5FA-A0BF-CB7151199629}"/>
              </a:ext>
            </a:extLst>
          </p:cNvPr>
          <p:cNvSpPr/>
          <p:nvPr/>
        </p:nvSpPr>
        <p:spPr>
          <a:xfrm>
            <a:off x="4633462" y="1008670"/>
            <a:ext cx="2100735" cy="1689773"/>
          </a:xfrm>
          <a:prstGeom prst="roundRect">
            <a:avLst>
              <a:gd name="adj" fmla="val 11088"/>
            </a:avLst>
          </a:prstGeom>
          <a:solidFill>
            <a:srgbClr val="B8F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tx1"/>
                </a:solidFill>
              </a:rPr>
              <a:t>Удержание и реактивация 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BF8579F-6319-52B3-381B-28A72D2A3B22}"/>
              </a:ext>
            </a:extLst>
          </p:cNvPr>
          <p:cNvSpPr/>
          <p:nvPr/>
        </p:nvSpPr>
        <p:spPr>
          <a:xfrm>
            <a:off x="6857119" y="1008668"/>
            <a:ext cx="2100735" cy="2536866"/>
          </a:xfrm>
          <a:prstGeom prst="roundRect">
            <a:avLst>
              <a:gd name="adj" fmla="val 8141"/>
            </a:avLst>
          </a:prstGeom>
          <a:solidFill>
            <a:srgbClr val="1418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bg1"/>
                </a:solidFill>
              </a:rPr>
              <a:t>Знание и репутация бренда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90109984-3615-04DF-1B42-54170660023C}"/>
              </a:ext>
            </a:extLst>
          </p:cNvPr>
          <p:cNvSpPr/>
          <p:nvPr/>
        </p:nvSpPr>
        <p:spPr>
          <a:xfrm>
            <a:off x="186146" y="2825667"/>
            <a:ext cx="2100735" cy="1689773"/>
          </a:xfrm>
          <a:prstGeom prst="roundRect">
            <a:avLst>
              <a:gd name="adj" fmla="val 9973"/>
            </a:avLst>
          </a:prstGeom>
          <a:solidFill>
            <a:srgbClr val="B8F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tx1"/>
                </a:solidFill>
              </a:rPr>
              <a:t>Исследование вашей аудитории</a:t>
            </a:r>
          </a:p>
        </p:txBody>
      </p:sp>
      <p:sp>
        <p:nvSpPr>
          <p:cNvPr id="17" name="Google Shape;60;p14">
            <a:extLst>
              <a:ext uri="{FF2B5EF4-FFF2-40B4-BE49-F238E27FC236}">
                <a16:creationId xmlns:a16="http://schemas.microsoft.com/office/drawing/2014/main" id="{37CB67D1-661B-D7B0-D888-586DB3696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7235"/>
            <a:ext cx="4899637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 dirty="0">
                <a:latin typeface="Arial" panose="020B0604020202020204" pitchFamily="34" charset="0"/>
                <a:cs typeface="Arial" panose="020B0604020202020204" pitchFamily="34" charset="0"/>
              </a:rPr>
              <a:t>Цели маркетинга?</a:t>
            </a:r>
            <a:endParaRPr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D32FDB-6220-373B-7D25-7F91B42DBE89}"/>
              </a:ext>
            </a:extLst>
          </p:cNvPr>
          <p:cNvSpPr txBox="1"/>
          <p:nvPr/>
        </p:nvSpPr>
        <p:spPr>
          <a:xfrm>
            <a:off x="1679533" y="1769269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EA7D21-6E44-55DF-C6F3-96687FEDDC0A}"/>
              </a:ext>
            </a:extLst>
          </p:cNvPr>
          <p:cNvSpPr txBox="1"/>
          <p:nvPr/>
        </p:nvSpPr>
        <p:spPr>
          <a:xfrm>
            <a:off x="3881196" y="1794861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0532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DACDE4-AD71-A80C-111E-C463286AA924}"/>
              </a:ext>
            </a:extLst>
          </p:cNvPr>
          <p:cNvSpPr txBox="1"/>
          <p:nvPr/>
        </p:nvSpPr>
        <p:spPr>
          <a:xfrm>
            <a:off x="6099534" y="1794861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1418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C37EBD-F3CE-FD81-3637-DEFF0C065D65}"/>
              </a:ext>
            </a:extLst>
          </p:cNvPr>
          <p:cNvSpPr txBox="1"/>
          <p:nvPr/>
        </p:nvSpPr>
        <p:spPr>
          <a:xfrm>
            <a:off x="8327833" y="2593852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DCFF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36D1D1-F3F0-7785-626B-B172E9C65B1E}"/>
              </a:ext>
            </a:extLst>
          </p:cNvPr>
          <p:cNvSpPr txBox="1"/>
          <p:nvPr/>
        </p:nvSpPr>
        <p:spPr>
          <a:xfrm>
            <a:off x="1679533" y="3593291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1418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84067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hidden="1">
            <a:extLst>
              <a:ext uri="{FF2B5EF4-FFF2-40B4-BE49-F238E27FC236}">
                <a16:creationId xmlns:a16="http://schemas.microsoft.com/office/drawing/2014/main" id="{C989A767-6CE0-0A41-6188-49785BEBE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85" y="-882016"/>
            <a:ext cx="6937830" cy="6907532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AF57C3E-70B2-7344-1F5F-EDA561C213D7}"/>
              </a:ext>
            </a:extLst>
          </p:cNvPr>
          <p:cNvSpPr/>
          <p:nvPr/>
        </p:nvSpPr>
        <p:spPr>
          <a:xfrm>
            <a:off x="186146" y="1008670"/>
            <a:ext cx="2100735" cy="1689773"/>
          </a:xfrm>
          <a:prstGeom prst="roundRect">
            <a:avLst>
              <a:gd name="adj" fmla="val 9973"/>
            </a:avLst>
          </a:prstGeom>
          <a:solidFill>
            <a:srgbClr val="0532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" sz="1300" dirty="0">
                <a:solidFill>
                  <a:schemeClr val="bg1"/>
                </a:solidFill>
              </a:rPr>
              <a:t>Привлечение пользователей</a:t>
            </a:r>
            <a:endParaRPr lang="ru-RU" sz="1300" dirty="0">
              <a:solidFill>
                <a:schemeClr val="bg1"/>
              </a:solidFill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70DA9CB0-1413-5B75-6A8A-97B964C5CD84}"/>
              </a:ext>
            </a:extLst>
          </p:cNvPr>
          <p:cNvSpPr/>
          <p:nvPr/>
        </p:nvSpPr>
        <p:spPr>
          <a:xfrm>
            <a:off x="2409804" y="1008670"/>
            <a:ext cx="2100735" cy="1689773"/>
          </a:xfrm>
          <a:prstGeom prst="roundRect">
            <a:avLst>
              <a:gd name="adj" fmla="val 10530"/>
            </a:avLst>
          </a:prstGeom>
          <a:solidFill>
            <a:srgbClr val="B8FF5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tx1"/>
                </a:solidFill>
              </a:rPr>
              <a:t>Активация</a:t>
            </a:r>
            <a:endParaRPr lang="ru-RU" sz="1300" dirty="0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AC7F3CF-AB3C-E5FA-A0BF-CB7151199629}"/>
              </a:ext>
            </a:extLst>
          </p:cNvPr>
          <p:cNvSpPr/>
          <p:nvPr/>
        </p:nvSpPr>
        <p:spPr>
          <a:xfrm>
            <a:off x="4633462" y="1008670"/>
            <a:ext cx="2100735" cy="1689773"/>
          </a:xfrm>
          <a:prstGeom prst="roundRect">
            <a:avLst>
              <a:gd name="adj" fmla="val 11088"/>
            </a:avLst>
          </a:prstGeom>
          <a:solidFill>
            <a:srgbClr val="B8F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tx1"/>
                </a:solidFill>
              </a:rPr>
              <a:t>Удержание и реактивация 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BF8579F-6319-52B3-381B-28A72D2A3B22}"/>
              </a:ext>
            </a:extLst>
          </p:cNvPr>
          <p:cNvSpPr/>
          <p:nvPr/>
        </p:nvSpPr>
        <p:spPr>
          <a:xfrm>
            <a:off x="6857119" y="1008668"/>
            <a:ext cx="2100735" cy="2536866"/>
          </a:xfrm>
          <a:prstGeom prst="roundRect">
            <a:avLst>
              <a:gd name="adj" fmla="val 8141"/>
            </a:avLst>
          </a:prstGeom>
          <a:solidFill>
            <a:srgbClr val="1418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bg1"/>
                </a:solidFill>
              </a:rPr>
              <a:t>Знание и репутация бренда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90109984-3615-04DF-1B42-54170660023C}"/>
              </a:ext>
            </a:extLst>
          </p:cNvPr>
          <p:cNvSpPr/>
          <p:nvPr/>
        </p:nvSpPr>
        <p:spPr>
          <a:xfrm>
            <a:off x="186146" y="2825667"/>
            <a:ext cx="2100735" cy="1689773"/>
          </a:xfrm>
          <a:prstGeom prst="roundRect">
            <a:avLst>
              <a:gd name="adj" fmla="val 9973"/>
            </a:avLst>
          </a:prstGeom>
          <a:solidFill>
            <a:srgbClr val="B8F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tx1"/>
                </a:solidFill>
              </a:rPr>
              <a:t>Исследование вашей аудитории</a:t>
            </a: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0A479BEB-80DF-B248-4529-4B0A6AB98EA2}"/>
              </a:ext>
            </a:extLst>
          </p:cNvPr>
          <p:cNvSpPr/>
          <p:nvPr/>
        </p:nvSpPr>
        <p:spPr>
          <a:xfrm>
            <a:off x="2409804" y="2825667"/>
            <a:ext cx="2100735" cy="1689773"/>
          </a:xfrm>
          <a:prstGeom prst="roundRect">
            <a:avLst>
              <a:gd name="adj" fmla="val 9972"/>
            </a:avLst>
          </a:prstGeom>
          <a:solidFill>
            <a:srgbClr val="0532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bg1"/>
                </a:solidFill>
              </a:rPr>
              <a:t>Поиск новых сегментов</a:t>
            </a:r>
          </a:p>
        </p:txBody>
      </p:sp>
      <p:sp>
        <p:nvSpPr>
          <p:cNvPr id="17" name="Google Shape;60;p14">
            <a:extLst>
              <a:ext uri="{FF2B5EF4-FFF2-40B4-BE49-F238E27FC236}">
                <a16:creationId xmlns:a16="http://schemas.microsoft.com/office/drawing/2014/main" id="{37CB67D1-661B-D7B0-D888-586DB3696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7235"/>
            <a:ext cx="4899637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 dirty="0">
                <a:latin typeface="Arial" panose="020B0604020202020204" pitchFamily="34" charset="0"/>
                <a:cs typeface="Arial" panose="020B0604020202020204" pitchFamily="34" charset="0"/>
              </a:rPr>
              <a:t>Цели маркетинга?</a:t>
            </a:r>
            <a:endParaRPr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D32FDB-6220-373B-7D25-7F91B42DBE89}"/>
              </a:ext>
            </a:extLst>
          </p:cNvPr>
          <p:cNvSpPr txBox="1"/>
          <p:nvPr/>
        </p:nvSpPr>
        <p:spPr>
          <a:xfrm>
            <a:off x="1679533" y="1769269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EA7D21-6E44-55DF-C6F3-96687FEDDC0A}"/>
              </a:ext>
            </a:extLst>
          </p:cNvPr>
          <p:cNvSpPr txBox="1"/>
          <p:nvPr/>
        </p:nvSpPr>
        <p:spPr>
          <a:xfrm>
            <a:off x="3881196" y="1794861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0532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DACDE4-AD71-A80C-111E-C463286AA924}"/>
              </a:ext>
            </a:extLst>
          </p:cNvPr>
          <p:cNvSpPr txBox="1"/>
          <p:nvPr/>
        </p:nvSpPr>
        <p:spPr>
          <a:xfrm>
            <a:off x="6099534" y="1794861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1418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C37EBD-F3CE-FD81-3637-DEFF0C065D65}"/>
              </a:ext>
            </a:extLst>
          </p:cNvPr>
          <p:cNvSpPr txBox="1"/>
          <p:nvPr/>
        </p:nvSpPr>
        <p:spPr>
          <a:xfrm>
            <a:off x="8327833" y="2593852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DCFF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36D1D1-F3F0-7785-626B-B172E9C65B1E}"/>
              </a:ext>
            </a:extLst>
          </p:cNvPr>
          <p:cNvSpPr txBox="1"/>
          <p:nvPr/>
        </p:nvSpPr>
        <p:spPr>
          <a:xfrm>
            <a:off x="1679533" y="3593291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1418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861BA3-E490-FC56-910C-42150B835E0E}"/>
              </a:ext>
            </a:extLst>
          </p:cNvPr>
          <p:cNvSpPr txBox="1"/>
          <p:nvPr/>
        </p:nvSpPr>
        <p:spPr>
          <a:xfrm>
            <a:off x="3890073" y="3589191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21493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hidden="1">
            <a:extLst>
              <a:ext uri="{FF2B5EF4-FFF2-40B4-BE49-F238E27FC236}">
                <a16:creationId xmlns:a16="http://schemas.microsoft.com/office/drawing/2014/main" id="{C989A767-6CE0-0A41-6188-49785BEBE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85" y="-882016"/>
            <a:ext cx="6937830" cy="6907532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AF57C3E-70B2-7344-1F5F-EDA561C213D7}"/>
              </a:ext>
            </a:extLst>
          </p:cNvPr>
          <p:cNvSpPr/>
          <p:nvPr/>
        </p:nvSpPr>
        <p:spPr>
          <a:xfrm>
            <a:off x="186146" y="1008670"/>
            <a:ext cx="2100735" cy="1689773"/>
          </a:xfrm>
          <a:prstGeom prst="roundRect">
            <a:avLst>
              <a:gd name="adj" fmla="val 9973"/>
            </a:avLst>
          </a:prstGeom>
          <a:solidFill>
            <a:srgbClr val="0532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" sz="1300" dirty="0">
                <a:solidFill>
                  <a:schemeClr val="bg1"/>
                </a:solidFill>
              </a:rPr>
              <a:t>Привлечение пользователей</a:t>
            </a:r>
            <a:endParaRPr lang="ru-RU" sz="1300" dirty="0">
              <a:solidFill>
                <a:schemeClr val="bg1"/>
              </a:solidFill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70DA9CB0-1413-5B75-6A8A-97B964C5CD84}"/>
              </a:ext>
            </a:extLst>
          </p:cNvPr>
          <p:cNvSpPr/>
          <p:nvPr/>
        </p:nvSpPr>
        <p:spPr>
          <a:xfrm>
            <a:off x="2409804" y="1008670"/>
            <a:ext cx="2100735" cy="1689773"/>
          </a:xfrm>
          <a:prstGeom prst="roundRect">
            <a:avLst>
              <a:gd name="adj" fmla="val 10530"/>
            </a:avLst>
          </a:prstGeom>
          <a:solidFill>
            <a:srgbClr val="B8FF5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tx1"/>
                </a:solidFill>
              </a:rPr>
              <a:t>Активация</a:t>
            </a:r>
            <a:endParaRPr lang="ru-RU" sz="1300" dirty="0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AC7F3CF-AB3C-E5FA-A0BF-CB7151199629}"/>
              </a:ext>
            </a:extLst>
          </p:cNvPr>
          <p:cNvSpPr/>
          <p:nvPr/>
        </p:nvSpPr>
        <p:spPr>
          <a:xfrm>
            <a:off x="4633462" y="1008670"/>
            <a:ext cx="2100735" cy="1689773"/>
          </a:xfrm>
          <a:prstGeom prst="roundRect">
            <a:avLst>
              <a:gd name="adj" fmla="val 11088"/>
            </a:avLst>
          </a:prstGeom>
          <a:solidFill>
            <a:srgbClr val="B8F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tx1"/>
                </a:solidFill>
              </a:rPr>
              <a:t>Удержание и реактивация 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BF8579F-6319-52B3-381B-28A72D2A3B22}"/>
              </a:ext>
            </a:extLst>
          </p:cNvPr>
          <p:cNvSpPr/>
          <p:nvPr/>
        </p:nvSpPr>
        <p:spPr>
          <a:xfrm>
            <a:off x="6857119" y="1008668"/>
            <a:ext cx="2100735" cy="2536866"/>
          </a:xfrm>
          <a:prstGeom prst="roundRect">
            <a:avLst>
              <a:gd name="adj" fmla="val 8141"/>
            </a:avLst>
          </a:prstGeom>
          <a:solidFill>
            <a:srgbClr val="1418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bg1"/>
                </a:solidFill>
              </a:rPr>
              <a:t>Знание и репутация бренда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90109984-3615-04DF-1B42-54170660023C}"/>
              </a:ext>
            </a:extLst>
          </p:cNvPr>
          <p:cNvSpPr/>
          <p:nvPr/>
        </p:nvSpPr>
        <p:spPr>
          <a:xfrm>
            <a:off x="186146" y="2825667"/>
            <a:ext cx="2100735" cy="1689773"/>
          </a:xfrm>
          <a:prstGeom prst="roundRect">
            <a:avLst>
              <a:gd name="adj" fmla="val 9973"/>
            </a:avLst>
          </a:prstGeom>
          <a:solidFill>
            <a:srgbClr val="B8F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tx1"/>
                </a:solidFill>
              </a:rPr>
              <a:t>Исследование вашей аудитории</a:t>
            </a: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0A479BEB-80DF-B248-4529-4B0A6AB98EA2}"/>
              </a:ext>
            </a:extLst>
          </p:cNvPr>
          <p:cNvSpPr/>
          <p:nvPr/>
        </p:nvSpPr>
        <p:spPr>
          <a:xfrm>
            <a:off x="2409804" y="2825667"/>
            <a:ext cx="2100735" cy="1689773"/>
          </a:xfrm>
          <a:prstGeom prst="roundRect">
            <a:avLst>
              <a:gd name="adj" fmla="val 9972"/>
            </a:avLst>
          </a:prstGeom>
          <a:solidFill>
            <a:srgbClr val="0532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bg1"/>
                </a:solidFill>
              </a:rPr>
              <a:t>Поиск новых сегментов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2F557C81-3391-0D98-48AD-507E373074A4}"/>
              </a:ext>
            </a:extLst>
          </p:cNvPr>
          <p:cNvSpPr/>
          <p:nvPr/>
        </p:nvSpPr>
        <p:spPr>
          <a:xfrm>
            <a:off x="4633462" y="2825667"/>
            <a:ext cx="2100735" cy="1689773"/>
          </a:xfrm>
          <a:prstGeom prst="roundRect">
            <a:avLst>
              <a:gd name="adj" fmla="val 11088"/>
            </a:avLst>
          </a:prstGeom>
          <a:solidFill>
            <a:srgbClr val="B8FF5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dirty="0">
                <a:solidFill>
                  <a:schemeClr val="tx1"/>
                </a:solidFill>
              </a:rPr>
              <a:t>Оптимизация привлечения</a:t>
            </a: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3AAD1BD1-AAD7-349B-EE35-97C28BFBB69B}"/>
              </a:ext>
            </a:extLst>
          </p:cNvPr>
          <p:cNvSpPr/>
          <p:nvPr/>
        </p:nvSpPr>
        <p:spPr>
          <a:xfrm>
            <a:off x="6857119" y="3686807"/>
            <a:ext cx="2100735" cy="828633"/>
          </a:xfrm>
          <a:prstGeom prst="roundRect">
            <a:avLst/>
          </a:prstGeom>
          <a:solidFill>
            <a:schemeClr val="accent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tlCol="0" anchor="t" anchorCtr="0"/>
          <a:lstStyle/>
          <a:p>
            <a:pPr>
              <a:lnSpc>
                <a:spcPct val="90000"/>
              </a:lnSpc>
            </a:pPr>
            <a:r>
              <a:rPr lang="ru-RU" sz="1300" i="1" dirty="0">
                <a:latin typeface="Arial" panose="020B0604020202020204" pitchFamily="34" charset="0"/>
                <a:cs typeface="Arial" panose="020B0604020202020204" pitchFamily="34" charset="0"/>
              </a:rPr>
              <a:t>И другие</a:t>
            </a:r>
          </a:p>
        </p:txBody>
      </p:sp>
      <p:sp>
        <p:nvSpPr>
          <p:cNvPr id="17" name="Google Shape;60;p14">
            <a:extLst>
              <a:ext uri="{FF2B5EF4-FFF2-40B4-BE49-F238E27FC236}">
                <a16:creationId xmlns:a16="http://schemas.microsoft.com/office/drawing/2014/main" id="{37CB67D1-661B-D7B0-D888-586DB3696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7235"/>
            <a:ext cx="4899637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 dirty="0">
                <a:latin typeface="Arial" panose="020B0604020202020204" pitchFamily="34" charset="0"/>
                <a:cs typeface="Arial" panose="020B0604020202020204" pitchFamily="34" charset="0"/>
              </a:rPr>
              <a:t>Цели маркетинга?</a:t>
            </a:r>
            <a:endParaRPr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D32FDB-6220-373B-7D25-7F91B42DBE89}"/>
              </a:ext>
            </a:extLst>
          </p:cNvPr>
          <p:cNvSpPr txBox="1"/>
          <p:nvPr/>
        </p:nvSpPr>
        <p:spPr>
          <a:xfrm>
            <a:off x="1679533" y="1769269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EA7D21-6E44-55DF-C6F3-96687FEDDC0A}"/>
              </a:ext>
            </a:extLst>
          </p:cNvPr>
          <p:cNvSpPr txBox="1"/>
          <p:nvPr/>
        </p:nvSpPr>
        <p:spPr>
          <a:xfrm>
            <a:off x="3881196" y="1794861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0532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DACDE4-AD71-A80C-111E-C463286AA924}"/>
              </a:ext>
            </a:extLst>
          </p:cNvPr>
          <p:cNvSpPr txBox="1"/>
          <p:nvPr/>
        </p:nvSpPr>
        <p:spPr>
          <a:xfrm>
            <a:off x="6099534" y="1794861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1418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C37EBD-F3CE-FD81-3637-DEFF0C065D65}"/>
              </a:ext>
            </a:extLst>
          </p:cNvPr>
          <p:cNvSpPr txBox="1"/>
          <p:nvPr/>
        </p:nvSpPr>
        <p:spPr>
          <a:xfrm>
            <a:off x="8327833" y="2593852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DCFF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36D1D1-F3F0-7785-626B-B172E9C65B1E}"/>
              </a:ext>
            </a:extLst>
          </p:cNvPr>
          <p:cNvSpPr txBox="1"/>
          <p:nvPr/>
        </p:nvSpPr>
        <p:spPr>
          <a:xfrm>
            <a:off x="1679533" y="3593291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1418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861BA3-E490-FC56-910C-42150B835E0E}"/>
              </a:ext>
            </a:extLst>
          </p:cNvPr>
          <p:cNvSpPr txBox="1"/>
          <p:nvPr/>
        </p:nvSpPr>
        <p:spPr>
          <a:xfrm>
            <a:off x="3890073" y="3589191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2D4178-5AF0-2389-A869-21A5D95313E2}"/>
              </a:ext>
            </a:extLst>
          </p:cNvPr>
          <p:cNvSpPr txBox="1"/>
          <p:nvPr/>
        </p:nvSpPr>
        <p:spPr>
          <a:xfrm>
            <a:off x="6127246" y="3605906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0532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70191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0;p14">
            <a:extLst>
              <a:ext uri="{FF2B5EF4-FFF2-40B4-BE49-F238E27FC236}">
                <a16:creationId xmlns:a16="http://schemas.microsoft.com/office/drawing/2014/main" id="{93184F3B-E0E2-D1BE-9711-7E561A833283}"/>
              </a:ext>
            </a:extLst>
          </p:cNvPr>
          <p:cNvSpPr txBox="1">
            <a:spLocks/>
          </p:cNvSpPr>
          <p:nvPr/>
        </p:nvSpPr>
        <p:spPr>
          <a:xfrm>
            <a:off x="65988" y="207109"/>
            <a:ext cx="6450222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Зачем продукту нужен маркетинг?</a:t>
            </a:r>
          </a:p>
        </p:txBody>
      </p:sp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F8BADFA9-4B28-D2B7-3224-F289B674E5A0}"/>
              </a:ext>
            </a:extLst>
          </p:cNvPr>
          <p:cNvSpPr txBox="1">
            <a:spLocks/>
          </p:cNvSpPr>
          <p:nvPr/>
        </p:nvSpPr>
        <p:spPr>
          <a:xfrm>
            <a:off x="537099" y="1920501"/>
            <a:ext cx="1713390" cy="236773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New Users</a:t>
            </a:r>
            <a:endParaRPr lang="ru-RU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60;p14">
            <a:extLst>
              <a:ext uri="{FF2B5EF4-FFF2-40B4-BE49-F238E27FC236}">
                <a16:creationId xmlns:a16="http://schemas.microsoft.com/office/drawing/2014/main" id="{10C14AA3-3B58-77B2-4A50-76F700487ABF}"/>
              </a:ext>
            </a:extLst>
          </p:cNvPr>
          <p:cNvSpPr txBox="1">
            <a:spLocks/>
          </p:cNvSpPr>
          <p:nvPr/>
        </p:nvSpPr>
        <p:spPr>
          <a:xfrm>
            <a:off x="3715305" y="1920501"/>
            <a:ext cx="1713390" cy="236773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  <a:endParaRPr lang="ru-RU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60;p14">
            <a:extLst>
              <a:ext uri="{FF2B5EF4-FFF2-40B4-BE49-F238E27FC236}">
                <a16:creationId xmlns:a16="http://schemas.microsoft.com/office/drawing/2014/main" id="{0D6260DC-D613-0598-BE40-BF9943F1BB84}"/>
              </a:ext>
            </a:extLst>
          </p:cNvPr>
          <p:cNvSpPr txBox="1">
            <a:spLocks/>
          </p:cNvSpPr>
          <p:nvPr/>
        </p:nvSpPr>
        <p:spPr>
          <a:xfrm>
            <a:off x="6955656" y="1920501"/>
            <a:ext cx="1623544" cy="236773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ru-RU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441E6DA4-DA21-68A4-17FE-7FD5B3E9CE60}"/>
              </a:ext>
            </a:extLst>
          </p:cNvPr>
          <p:cNvGrpSpPr/>
          <p:nvPr/>
        </p:nvGrpSpPr>
        <p:grpSpPr>
          <a:xfrm>
            <a:off x="537099" y="2334827"/>
            <a:ext cx="1713391" cy="1189608"/>
            <a:chOff x="179388" y="2334827"/>
            <a:chExt cx="1713391" cy="1189608"/>
          </a:xfrm>
          <a:solidFill>
            <a:srgbClr val="B4FA56"/>
          </a:solidFill>
        </p:grpSpPr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BD13BC79-9806-EF6E-C993-F26E55B99A74}"/>
                </a:ext>
              </a:extLst>
            </p:cNvPr>
            <p:cNvSpPr/>
            <p:nvPr/>
          </p:nvSpPr>
          <p:spPr>
            <a:xfrm>
              <a:off x="179388" y="2334827"/>
              <a:ext cx="319596" cy="3195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AA679D69-F41C-6C12-73B3-4D230E7C9934}"/>
                </a:ext>
              </a:extLst>
            </p:cNvPr>
            <p:cNvSpPr/>
            <p:nvPr/>
          </p:nvSpPr>
          <p:spPr>
            <a:xfrm>
              <a:off x="643986" y="2334827"/>
              <a:ext cx="319596" cy="3195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E6477507-07C6-12BC-CEAE-DB179A2B5705}"/>
                </a:ext>
              </a:extLst>
            </p:cNvPr>
            <p:cNvSpPr/>
            <p:nvPr/>
          </p:nvSpPr>
          <p:spPr>
            <a:xfrm>
              <a:off x="1108584" y="2334827"/>
              <a:ext cx="319596" cy="3195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396E92FF-78B2-99FD-B10F-8CB5E48A2F27}"/>
                </a:ext>
              </a:extLst>
            </p:cNvPr>
            <p:cNvSpPr/>
            <p:nvPr/>
          </p:nvSpPr>
          <p:spPr>
            <a:xfrm>
              <a:off x="1573183" y="2334827"/>
              <a:ext cx="319596" cy="3195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A738B943-AE84-5674-7998-87DCF08B926F}"/>
                </a:ext>
              </a:extLst>
            </p:cNvPr>
            <p:cNvSpPr/>
            <p:nvPr/>
          </p:nvSpPr>
          <p:spPr>
            <a:xfrm>
              <a:off x="179388" y="2769833"/>
              <a:ext cx="319596" cy="3195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7034B977-0CD5-E116-E6AA-3FE71ED56035}"/>
                </a:ext>
              </a:extLst>
            </p:cNvPr>
            <p:cNvSpPr/>
            <p:nvPr/>
          </p:nvSpPr>
          <p:spPr>
            <a:xfrm>
              <a:off x="643986" y="2769833"/>
              <a:ext cx="319596" cy="3195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6FC07E81-E377-B6AD-F4F6-C8E5A3AB93CA}"/>
                </a:ext>
              </a:extLst>
            </p:cNvPr>
            <p:cNvSpPr/>
            <p:nvPr/>
          </p:nvSpPr>
          <p:spPr>
            <a:xfrm>
              <a:off x="1108584" y="2769833"/>
              <a:ext cx="319596" cy="3195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E57BBC4B-B3C7-03CA-1F37-59AEE0B1244F}"/>
                </a:ext>
              </a:extLst>
            </p:cNvPr>
            <p:cNvSpPr/>
            <p:nvPr/>
          </p:nvSpPr>
          <p:spPr>
            <a:xfrm>
              <a:off x="1573183" y="2769833"/>
              <a:ext cx="319596" cy="3195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F48CE2C2-E90A-62C6-FF65-0AFC12AFA64B}"/>
                </a:ext>
              </a:extLst>
            </p:cNvPr>
            <p:cNvSpPr/>
            <p:nvPr/>
          </p:nvSpPr>
          <p:spPr>
            <a:xfrm>
              <a:off x="179388" y="3204839"/>
              <a:ext cx="319596" cy="3195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83DDE165-92C5-B214-C7CE-1CBC08EB5AE6}"/>
                </a:ext>
              </a:extLst>
            </p:cNvPr>
            <p:cNvSpPr/>
            <p:nvPr/>
          </p:nvSpPr>
          <p:spPr>
            <a:xfrm>
              <a:off x="643986" y="3204839"/>
              <a:ext cx="319596" cy="3195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B7AF65E7-2D73-4899-BCA1-F146C3CB066A}"/>
                </a:ext>
              </a:extLst>
            </p:cNvPr>
            <p:cNvSpPr/>
            <p:nvPr/>
          </p:nvSpPr>
          <p:spPr>
            <a:xfrm>
              <a:off x="1108584" y="3204839"/>
              <a:ext cx="319596" cy="3195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EF7AF20B-0AD2-3947-58C6-21BC2EAB81EF}"/>
                </a:ext>
              </a:extLst>
            </p:cNvPr>
            <p:cNvSpPr/>
            <p:nvPr/>
          </p:nvSpPr>
          <p:spPr>
            <a:xfrm>
              <a:off x="1573183" y="3204839"/>
              <a:ext cx="319596" cy="3195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9" name="Скругленный прямоугольник 28">
            <a:extLst>
              <a:ext uri="{FF2B5EF4-FFF2-40B4-BE49-F238E27FC236}">
                <a16:creationId xmlns:a16="http://schemas.microsoft.com/office/drawing/2014/main" id="{F442E767-8577-76ED-9FBF-51EC3A7589C1}"/>
              </a:ext>
            </a:extLst>
          </p:cNvPr>
          <p:cNvSpPr/>
          <p:nvPr/>
        </p:nvSpPr>
        <p:spPr>
          <a:xfrm>
            <a:off x="3715305" y="2334827"/>
            <a:ext cx="1713390" cy="1189608"/>
          </a:xfrm>
          <a:prstGeom prst="roundRect">
            <a:avLst>
              <a:gd name="adj" fmla="val 11443"/>
            </a:avLst>
          </a:prstGeom>
          <a:solidFill>
            <a:srgbClr val="0532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E93E7D98-E115-4819-7B61-130209CFAC15}"/>
              </a:ext>
            </a:extLst>
          </p:cNvPr>
          <p:cNvGrpSpPr/>
          <p:nvPr/>
        </p:nvGrpSpPr>
        <p:grpSpPr>
          <a:xfrm>
            <a:off x="6649375" y="2383654"/>
            <a:ext cx="1929825" cy="1025371"/>
            <a:chOff x="6610908" y="2365899"/>
            <a:chExt cx="1771093" cy="941032"/>
          </a:xfrm>
          <a:solidFill>
            <a:srgbClr val="DCFFB0"/>
          </a:solidFill>
        </p:grpSpPr>
        <p:sp>
          <p:nvSpPr>
            <p:cNvPr id="30" name="Параллелограмм 29">
              <a:extLst>
                <a:ext uri="{FF2B5EF4-FFF2-40B4-BE49-F238E27FC236}">
                  <a16:creationId xmlns:a16="http://schemas.microsoft.com/office/drawing/2014/main" id="{09E5B180-416E-9FF4-53C3-22157654431F}"/>
                </a:ext>
              </a:extLst>
            </p:cNvPr>
            <p:cNvSpPr/>
            <p:nvPr/>
          </p:nvSpPr>
          <p:spPr>
            <a:xfrm>
              <a:off x="7884852" y="2365899"/>
              <a:ext cx="497149" cy="257452"/>
            </a:xfrm>
            <a:prstGeom prst="parallelogram">
              <a:avLst>
                <a:gd name="adj" fmla="val 45690"/>
              </a:avLst>
            </a:prstGeom>
            <a:grp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араллелограмм 30">
              <a:extLst>
                <a:ext uri="{FF2B5EF4-FFF2-40B4-BE49-F238E27FC236}">
                  <a16:creationId xmlns:a16="http://schemas.microsoft.com/office/drawing/2014/main" id="{0FB8BF3C-F7B3-E958-179A-AF75D3A48C9F}"/>
                </a:ext>
              </a:extLst>
            </p:cNvPr>
            <p:cNvSpPr/>
            <p:nvPr/>
          </p:nvSpPr>
          <p:spPr>
            <a:xfrm>
              <a:off x="7739850" y="2703250"/>
              <a:ext cx="497149" cy="257452"/>
            </a:xfrm>
            <a:prstGeom prst="parallelogram">
              <a:avLst>
                <a:gd name="adj" fmla="val 45690"/>
              </a:avLst>
            </a:prstGeom>
            <a:grp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Параллелограмм 32">
              <a:extLst>
                <a:ext uri="{FF2B5EF4-FFF2-40B4-BE49-F238E27FC236}">
                  <a16:creationId xmlns:a16="http://schemas.microsoft.com/office/drawing/2014/main" id="{85F29648-E14F-36FB-B066-15851F92C2F5}"/>
                </a:ext>
              </a:extLst>
            </p:cNvPr>
            <p:cNvSpPr/>
            <p:nvPr/>
          </p:nvSpPr>
          <p:spPr>
            <a:xfrm>
              <a:off x="7260457" y="2703250"/>
              <a:ext cx="497149" cy="257452"/>
            </a:xfrm>
            <a:prstGeom prst="parallelogram">
              <a:avLst>
                <a:gd name="adj" fmla="val 45690"/>
              </a:avLst>
            </a:prstGeom>
            <a:grp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Параллелограмм 33">
              <a:extLst>
                <a:ext uri="{FF2B5EF4-FFF2-40B4-BE49-F238E27FC236}">
                  <a16:creationId xmlns:a16="http://schemas.microsoft.com/office/drawing/2014/main" id="{E1F7A349-553C-14B6-3268-CBEFEA647D90}"/>
                </a:ext>
              </a:extLst>
            </p:cNvPr>
            <p:cNvSpPr/>
            <p:nvPr/>
          </p:nvSpPr>
          <p:spPr>
            <a:xfrm>
              <a:off x="6763307" y="2703250"/>
              <a:ext cx="497149" cy="257452"/>
            </a:xfrm>
            <a:prstGeom prst="parallelogram">
              <a:avLst>
                <a:gd name="adj" fmla="val 45690"/>
              </a:avLst>
            </a:prstGeom>
            <a:grp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Параллелограмм 34">
              <a:extLst>
                <a:ext uri="{FF2B5EF4-FFF2-40B4-BE49-F238E27FC236}">
                  <a16:creationId xmlns:a16="http://schemas.microsoft.com/office/drawing/2014/main" id="{D628914C-DDCE-B2B5-00AB-2FD1387AAB52}"/>
                </a:ext>
              </a:extLst>
            </p:cNvPr>
            <p:cNvSpPr/>
            <p:nvPr/>
          </p:nvSpPr>
          <p:spPr>
            <a:xfrm>
              <a:off x="7587451" y="3049479"/>
              <a:ext cx="497149" cy="257452"/>
            </a:xfrm>
            <a:prstGeom prst="parallelogram">
              <a:avLst>
                <a:gd name="adj" fmla="val 45690"/>
              </a:avLst>
            </a:prstGeom>
            <a:grp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араллелограмм 35">
              <a:extLst>
                <a:ext uri="{FF2B5EF4-FFF2-40B4-BE49-F238E27FC236}">
                  <a16:creationId xmlns:a16="http://schemas.microsoft.com/office/drawing/2014/main" id="{7F2C1D5C-1C3C-43DA-91C0-F3D122567D28}"/>
                </a:ext>
              </a:extLst>
            </p:cNvPr>
            <p:cNvSpPr/>
            <p:nvPr/>
          </p:nvSpPr>
          <p:spPr>
            <a:xfrm>
              <a:off x="7108058" y="3049479"/>
              <a:ext cx="497149" cy="257452"/>
            </a:xfrm>
            <a:prstGeom prst="parallelogram">
              <a:avLst>
                <a:gd name="adj" fmla="val 45690"/>
              </a:avLst>
            </a:prstGeom>
            <a:grp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араллелограмм 36">
              <a:extLst>
                <a:ext uri="{FF2B5EF4-FFF2-40B4-BE49-F238E27FC236}">
                  <a16:creationId xmlns:a16="http://schemas.microsoft.com/office/drawing/2014/main" id="{FAA2139A-6A69-675C-0E1A-D25990D7AFB1}"/>
                </a:ext>
              </a:extLst>
            </p:cNvPr>
            <p:cNvSpPr/>
            <p:nvPr/>
          </p:nvSpPr>
          <p:spPr>
            <a:xfrm>
              <a:off x="6610908" y="3049479"/>
              <a:ext cx="497149" cy="257452"/>
            </a:xfrm>
            <a:prstGeom prst="parallelogram">
              <a:avLst>
                <a:gd name="adj" fmla="val 45690"/>
              </a:avLst>
            </a:prstGeom>
            <a:grp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араллелограмм 37">
              <a:extLst>
                <a:ext uri="{FF2B5EF4-FFF2-40B4-BE49-F238E27FC236}">
                  <a16:creationId xmlns:a16="http://schemas.microsoft.com/office/drawing/2014/main" id="{189F4EEC-FAB3-8251-76A8-AA5F9B44EA51}"/>
                </a:ext>
              </a:extLst>
            </p:cNvPr>
            <p:cNvSpPr/>
            <p:nvPr/>
          </p:nvSpPr>
          <p:spPr>
            <a:xfrm>
              <a:off x="7405458" y="2365899"/>
              <a:ext cx="497149" cy="257452"/>
            </a:xfrm>
            <a:prstGeom prst="parallelogram">
              <a:avLst>
                <a:gd name="adj" fmla="val 45690"/>
              </a:avLst>
            </a:prstGeom>
            <a:grp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араллелограмм 38">
              <a:extLst>
                <a:ext uri="{FF2B5EF4-FFF2-40B4-BE49-F238E27FC236}">
                  <a16:creationId xmlns:a16="http://schemas.microsoft.com/office/drawing/2014/main" id="{711495ED-1880-C056-F63E-5585B2AA0122}"/>
                </a:ext>
              </a:extLst>
            </p:cNvPr>
            <p:cNvSpPr/>
            <p:nvPr/>
          </p:nvSpPr>
          <p:spPr>
            <a:xfrm>
              <a:off x="6926064" y="2365899"/>
              <a:ext cx="497149" cy="257452"/>
            </a:xfrm>
            <a:prstGeom prst="parallelogram">
              <a:avLst>
                <a:gd name="adj" fmla="val 45690"/>
              </a:avLst>
            </a:prstGeom>
            <a:grp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1" name="Google Shape;60;p14">
            <a:extLst>
              <a:ext uri="{FF2B5EF4-FFF2-40B4-BE49-F238E27FC236}">
                <a16:creationId xmlns:a16="http://schemas.microsoft.com/office/drawing/2014/main" id="{37C927EB-9A69-0C19-74BD-891847AA47C7}"/>
              </a:ext>
            </a:extLst>
          </p:cNvPr>
          <p:cNvSpPr txBox="1">
            <a:spLocks/>
          </p:cNvSpPr>
          <p:nvPr/>
        </p:nvSpPr>
        <p:spPr>
          <a:xfrm>
            <a:off x="3715305" y="3798678"/>
            <a:ext cx="1713390" cy="236773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Product metrics</a:t>
            </a:r>
            <a:endParaRPr lang="ru-RU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Google Shape;60;p14">
            <a:extLst>
              <a:ext uri="{FF2B5EF4-FFF2-40B4-BE49-F238E27FC236}">
                <a16:creationId xmlns:a16="http://schemas.microsoft.com/office/drawing/2014/main" id="{F3294574-3A6C-A30A-0C12-950F6F4C89FB}"/>
              </a:ext>
            </a:extLst>
          </p:cNvPr>
          <p:cNvSpPr txBox="1">
            <a:spLocks/>
          </p:cNvSpPr>
          <p:nvPr/>
        </p:nvSpPr>
        <p:spPr>
          <a:xfrm>
            <a:off x="6556161" y="3798678"/>
            <a:ext cx="1713390" cy="236773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Growth metrics</a:t>
            </a:r>
            <a:endParaRPr lang="ru-RU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9150BDFC-3449-DD26-9F37-E565289A5B05}"/>
              </a:ext>
            </a:extLst>
          </p:cNvPr>
          <p:cNvCxnSpPr/>
          <p:nvPr/>
        </p:nvCxnSpPr>
        <p:spPr>
          <a:xfrm>
            <a:off x="2476870" y="2894120"/>
            <a:ext cx="1038687" cy="0"/>
          </a:xfrm>
          <a:prstGeom prst="line">
            <a:avLst/>
          </a:prstGeom>
          <a:ln w="19050" cap="rnd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F5CEA1A6-288C-BFC4-F18D-630632691D80}"/>
              </a:ext>
            </a:extLst>
          </p:cNvPr>
          <p:cNvCxnSpPr/>
          <p:nvPr/>
        </p:nvCxnSpPr>
        <p:spPr>
          <a:xfrm>
            <a:off x="5575177" y="2894120"/>
            <a:ext cx="1038687" cy="0"/>
          </a:xfrm>
          <a:prstGeom prst="line">
            <a:avLst/>
          </a:prstGeom>
          <a:ln w="19050" cap="rnd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5146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FA56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0;p14">
            <a:extLst>
              <a:ext uri="{FF2B5EF4-FFF2-40B4-BE49-F238E27FC236}">
                <a16:creationId xmlns:a16="http://schemas.microsoft.com/office/drawing/2014/main" id="{FF0B90FA-EE75-68D2-C7E2-1A09FEB22441}"/>
              </a:ext>
            </a:extLst>
          </p:cNvPr>
          <p:cNvSpPr txBox="1">
            <a:spLocks/>
          </p:cNvSpPr>
          <p:nvPr/>
        </p:nvSpPr>
        <p:spPr>
          <a:xfrm>
            <a:off x="1524443" y="633238"/>
            <a:ext cx="6095115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вопроса вашему продукту</a:t>
            </a:r>
          </a:p>
        </p:txBody>
      </p:sp>
    </p:spTree>
    <p:extLst>
      <p:ext uri="{BB962C8B-B14F-4D97-AF65-F5344CB8AC3E}">
        <p14:creationId xmlns:p14="http://schemas.microsoft.com/office/powerpoint/2010/main" val="2590844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FA56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0;p14">
            <a:extLst>
              <a:ext uri="{FF2B5EF4-FFF2-40B4-BE49-F238E27FC236}">
                <a16:creationId xmlns:a16="http://schemas.microsoft.com/office/drawing/2014/main" id="{CB400C75-13C8-E45E-61F9-ABEBFBF087AA}"/>
              </a:ext>
            </a:extLst>
          </p:cNvPr>
          <p:cNvSpPr txBox="1">
            <a:spLocks/>
          </p:cNvSpPr>
          <p:nvPr/>
        </p:nvSpPr>
        <p:spPr>
          <a:xfrm>
            <a:off x="1524443" y="633238"/>
            <a:ext cx="6095115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вопроса вашему продукту</a:t>
            </a: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2905DE8-A6EB-06FA-2683-FAF1F9755FAD}"/>
              </a:ext>
            </a:extLst>
          </p:cNvPr>
          <p:cNvSpPr/>
          <p:nvPr/>
        </p:nvSpPr>
        <p:spPr>
          <a:xfrm>
            <a:off x="1961964" y="1988281"/>
            <a:ext cx="1686758" cy="958788"/>
          </a:xfrm>
          <a:prstGeom prst="roundRect">
            <a:avLst>
              <a:gd name="adj" fmla="val 14815"/>
            </a:avLst>
          </a:prstGeom>
          <a:solidFill>
            <a:srgbClr val="1418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</a:t>
            </a:r>
            <a:endParaRPr lang="ru-RU" dirty="0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5BA74231-75F1-54EF-138E-98211986AED3}"/>
              </a:ext>
            </a:extLst>
          </p:cNvPr>
          <p:cNvSpPr/>
          <p:nvPr/>
        </p:nvSpPr>
        <p:spPr>
          <a:xfrm>
            <a:off x="5495277" y="1988281"/>
            <a:ext cx="1686758" cy="958788"/>
          </a:xfrm>
          <a:prstGeom prst="roundRect">
            <a:avLst>
              <a:gd name="adj" fmla="val 14815"/>
            </a:avLst>
          </a:prstGeom>
          <a:solidFill>
            <a:srgbClr val="0532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</a:t>
            </a:r>
            <a:endParaRPr lang="ru-RU" dirty="0"/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F24F4317-64BD-1CE1-93C8-95FE5BD621A4}"/>
              </a:ext>
            </a:extLst>
          </p:cNvPr>
          <p:cNvSpPr/>
          <p:nvPr/>
        </p:nvSpPr>
        <p:spPr>
          <a:xfrm>
            <a:off x="1961964" y="3583804"/>
            <a:ext cx="1686758" cy="958788"/>
          </a:xfrm>
          <a:prstGeom prst="roundRect">
            <a:avLst>
              <a:gd name="adj" fmla="val 14815"/>
            </a:avLst>
          </a:prstGeom>
          <a:solidFill>
            <a:srgbClr val="1418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  <a:endParaRPr lang="ru-RU" dirty="0"/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90343541-0B18-6396-D261-4AA91BBB47A8}"/>
              </a:ext>
            </a:extLst>
          </p:cNvPr>
          <p:cNvSpPr/>
          <p:nvPr/>
        </p:nvSpPr>
        <p:spPr>
          <a:xfrm>
            <a:off x="5495277" y="3583804"/>
            <a:ext cx="1686758" cy="958788"/>
          </a:xfrm>
          <a:prstGeom prst="roundRect">
            <a:avLst>
              <a:gd name="adj" fmla="val 14815"/>
            </a:avLst>
          </a:prstGeom>
          <a:solidFill>
            <a:srgbClr val="0532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CHANNEL</a:t>
            </a:r>
            <a:endParaRPr lang="ru-RU" dirty="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970B9635-E974-1993-EBA0-768D034793F6}"/>
              </a:ext>
            </a:extLst>
          </p:cNvPr>
          <p:cNvCxnSpPr>
            <a:cxnSpLocks/>
          </p:cNvCxnSpPr>
          <p:nvPr/>
        </p:nvCxnSpPr>
        <p:spPr>
          <a:xfrm>
            <a:off x="3759693" y="4056778"/>
            <a:ext cx="1624614" cy="0"/>
          </a:xfrm>
          <a:prstGeom prst="line">
            <a:avLst/>
          </a:prstGeom>
          <a:ln w="19050" cap="rnd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3D39323B-497F-0F17-F929-FF1BA76B6990}"/>
              </a:ext>
            </a:extLst>
          </p:cNvPr>
          <p:cNvCxnSpPr>
            <a:cxnSpLocks/>
          </p:cNvCxnSpPr>
          <p:nvPr/>
        </p:nvCxnSpPr>
        <p:spPr>
          <a:xfrm>
            <a:off x="2743200" y="3045041"/>
            <a:ext cx="0" cy="432549"/>
          </a:xfrm>
          <a:prstGeom prst="line">
            <a:avLst/>
          </a:prstGeom>
          <a:ln w="19050" cap="rnd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03932BE8-A94B-1625-1FDD-B4FA2E78E338}"/>
              </a:ext>
            </a:extLst>
          </p:cNvPr>
          <p:cNvCxnSpPr>
            <a:cxnSpLocks/>
          </p:cNvCxnSpPr>
          <p:nvPr/>
        </p:nvCxnSpPr>
        <p:spPr>
          <a:xfrm>
            <a:off x="6356411" y="3045041"/>
            <a:ext cx="0" cy="432549"/>
          </a:xfrm>
          <a:prstGeom prst="line">
            <a:avLst/>
          </a:prstGeom>
          <a:ln w="19050" cap="rnd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483FA65E-D565-D856-945D-AB6958ECAA62}"/>
              </a:ext>
            </a:extLst>
          </p:cNvPr>
          <p:cNvCxnSpPr>
            <a:cxnSpLocks/>
          </p:cNvCxnSpPr>
          <p:nvPr/>
        </p:nvCxnSpPr>
        <p:spPr>
          <a:xfrm>
            <a:off x="3759693" y="2467675"/>
            <a:ext cx="1624614" cy="0"/>
          </a:xfrm>
          <a:prstGeom prst="line">
            <a:avLst/>
          </a:prstGeom>
          <a:ln w="19050" cap="rnd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Google Shape;60;p14">
            <a:extLst>
              <a:ext uri="{FF2B5EF4-FFF2-40B4-BE49-F238E27FC236}">
                <a16:creationId xmlns:a16="http://schemas.microsoft.com/office/drawing/2014/main" id="{B4E1E9AB-6F55-4364-C7EF-6C81E82E0A4B}"/>
              </a:ext>
            </a:extLst>
          </p:cNvPr>
          <p:cNvSpPr txBox="1">
            <a:spLocks/>
          </p:cNvSpPr>
          <p:nvPr/>
        </p:nvSpPr>
        <p:spPr>
          <a:xfrm>
            <a:off x="3706429" y="2193609"/>
            <a:ext cx="1713390" cy="236773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Market/Product Fit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Google Shape;60;p14">
            <a:extLst>
              <a:ext uri="{FF2B5EF4-FFF2-40B4-BE49-F238E27FC236}">
                <a16:creationId xmlns:a16="http://schemas.microsoft.com/office/drawing/2014/main" id="{A466848C-6767-2479-10ED-FC120212FF73}"/>
              </a:ext>
            </a:extLst>
          </p:cNvPr>
          <p:cNvSpPr txBox="1">
            <a:spLocks/>
          </p:cNvSpPr>
          <p:nvPr/>
        </p:nvSpPr>
        <p:spPr>
          <a:xfrm>
            <a:off x="3706429" y="4160730"/>
            <a:ext cx="1713390" cy="236773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Channel/Model Fit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Google Shape;60;p14">
            <a:extLst>
              <a:ext uri="{FF2B5EF4-FFF2-40B4-BE49-F238E27FC236}">
                <a16:creationId xmlns:a16="http://schemas.microsoft.com/office/drawing/2014/main" id="{3784C56B-AA13-DCD0-22C3-69ABB28AE1CC}"/>
              </a:ext>
            </a:extLst>
          </p:cNvPr>
          <p:cNvSpPr txBox="1">
            <a:spLocks/>
          </p:cNvSpPr>
          <p:nvPr/>
        </p:nvSpPr>
        <p:spPr>
          <a:xfrm>
            <a:off x="1029810" y="3190397"/>
            <a:ext cx="1713390" cy="236773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Model/Market Fit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Google Shape;60;p14">
            <a:extLst>
              <a:ext uri="{FF2B5EF4-FFF2-40B4-BE49-F238E27FC236}">
                <a16:creationId xmlns:a16="http://schemas.microsoft.com/office/drawing/2014/main" id="{59AFD452-F058-14A9-3C07-822B90DD3D5C}"/>
              </a:ext>
            </a:extLst>
          </p:cNvPr>
          <p:cNvSpPr txBox="1">
            <a:spLocks/>
          </p:cNvSpPr>
          <p:nvPr/>
        </p:nvSpPr>
        <p:spPr>
          <a:xfrm>
            <a:off x="6498451" y="3190397"/>
            <a:ext cx="1713390" cy="236773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Product/Channel Fit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371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A766A93-6966-D85A-8E45-19D6CD04B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03" y="2657497"/>
            <a:ext cx="5166059" cy="5143500"/>
          </a:xfrm>
          <a:prstGeom prst="rect">
            <a:avLst/>
          </a:prstGeom>
        </p:spPr>
      </p:pic>
      <p:sp>
        <p:nvSpPr>
          <p:cNvPr id="6" name="Арка 5">
            <a:extLst>
              <a:ext uri="{FF2B5EF4-FFF2-40B4-BE49-F238E27FC236}">
                <a16:creationId xmlns:a16="http://schemas.microsoft.com/office/drawing/2014/main" id="{49F9882B-C0BE-41D1-AA44-16C657793A19}"/>
              </a:ext>
            </a:extLst>
          </p:cNvPr>
          <p:cNvSpPr/>
          <p:nvPr/>
        </p:nvSpPr>
        <p:spPr>
          <a:xfrm>
            <a:off x="-319985" y="1367163"/>
            <a:ext cx="7435393" cy="7435393"/>
          </a:xfrm>
          <a:prstGeom prst="blockArc">
            <a:avLst>
              <a:gd name="adj1" fmla="val 11763176"/>
              <a:gd name="adj2" fmla="val 19138016"/>
              <a:gd name="adj3" fmla="val 2667"/>
            </a:avLst>
          </a:prstGeom>
          <a:solidFill>
            <a:srgbClr val="DCFF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Арка 8">
            <a:extLst>
              <a:ext uri="{FF2B5EF4-FFF2-40B4-BE49-F238E27FC236}">
                <a16:creationId xmlns:a16="http://schemas.microsoft.com/office/drawing/2014/main" id="{89FFA234-A251-30E7-9866-1729A066784C}"/>
              </a:ext>
            </a:extLst>
          </p:cNvPr>
          <p:cNvSpPr/>
          <p:nvPr/>
        </p:nvSpPr>
        <p:spPr>
          <a:xfrm>
            <a:off x="358818" y="2092759"/>
            <a:ext cx="6077787" cy="6077787"/>
          </a:xfrm>
          <a:prstGeom prst="blockArc">
            <a:avLst>
              <a:gd name="adj1" fmla="val 10659630"/>
              <a:gd name="adj2" fmla="val 19307332"/>
              <a:gd name="adj3" fmla="val 1921"/>
            </a:avLst>
          </a:prstGeom>
          <a:solidFill>
            <a:srgbClr val="B4F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Арка 9">
            <a:extLst>
              <a:ext uri="{FF2B5EF4-FFF2-40B4-BE49-F238E27FC236}">
                <a16:creationId xmlns:a16="http://schemas.microsoft.com/office/drawing/2014/main" id="{81FDF894-9A5A-3A9F-71B3-9FE415DDDE41}"/>
              </a:ext>
            </a:extLst>
          </p:cNvPr>
          <p:cNvSpPr/>
          <p:nvPr/>
        </p:nvSpPr>
        <p:spPr>
          <a:xfrm>
            <a:off x="976392" y="2772917"/>
            <a:ext cx="4842638" cy="4842638"/>
          </a:xfrm>
          <a:prstGeom prst="blockArc">
            <a:avLst>
              <a:gd name="adj1" fmla="val 10440046"/>
              <a:gd name="adj2" fmla="val 19419279"/>
              <a:gd name="adj3" fmla="val 712"/>
            </a:avLst>
          </a:prstGeom>
          <a:solidFill>
            <a:srgbClr val="1418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95963" y="2435555"/>
            <a:ext cx="2977528" cy="340519"/>
          </a:xfrm>
          <a:prstGeom prst="roundRect">
            <a:avLst/>
          </a:prstGeom>
          <a:solidFill>
            <a:srgbClr val="DCFFB0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Где быстро взять трафик?</a:t>
            </a:r>
          </a:p>
        </p:txBody>
      </p:sp>
      <p:sp>
        <p:nvSpPr>
          <p:cNvPr id="4" name="Google Shape;60;p14">
            <a:extLst>
              <a:ext uri="{FF2B5EF4-FFF2-40B4-BE49-F238E27FC236}">
                <a16:creationId xmlns:a16="http://schemas.microsoft.com/office/drawing/2014/main" id="{C76AC600-E3B8-21D1-D199-17821A30919B}"/>
              </a:ext>
            </a:extLst>
          </p:cNvPr>
          <p:cNvSpPr txBox="1">
            <a:spLocks/>
          </p:cNvSpPr>
          <p:nvPr/>
        </p:nvSpPr>
        <p:spPr>
          <a:xfrm>
            <a:off x="65988" y="207109"/>
            <a:ext cx="6450222" cy="116893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Перформанс-</a:t>
            </a:r>
            <a:b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или бренд-маркетинг?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8E1DD9-D713-57F1-0D5D-70148B73BD8E}"/>
              </a:ext>
            </a:extLst>
          </p:cNvPr>
          <p:cNvSpPr txBox="1"/>
          <p:nvPr/>
        </p:nvSpPr>
        <p:spPr>
          <a:xfrm>
            <a:off x="5628698" y="3066344"/>
            <a:ext cx="3149485" cy="340519"/>
          </a:xfrm>
          <a:prstGeom prst="roundRect">
            <a:avLst/>
          </a:prstGeom>
          <a:solidFill>
            <a:srgbClr val="B4FA56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Как найти баланс в привлечении?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7B8789-0714-9654-4ECC-40643B1B1692}"/>
              </a:ext>
            </a:extLst>
          </p:cNvPr>
          <p:cNvSpPr txBox="1"/>
          <p:nvPr/>
        </p:nvSpPr>
        <p:spPr>
          <a:xfrm>
            <a:off x="5159008" y="3694654"/>
            <a:ext cx="3362803" cy="340519"/>
          </a:xfrm>
          <a:prstGeom prst="roundRect">
            <a:avLst/>
          </a:prstGeom>
          <a:solidFill>
            <a:srgbClr val="14181C"/>
          </a:solidFill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Когда слезать с иглы?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A3A5E6-180B-CB2A-E0F7-822099761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744" y="3213716"/>
            <a:ext cx="2931041" cy="19386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899D8B-FE05-F52C-4205-ABAEA538E695}"/>
              </a:ext>
            </a:extLst>
          </p:cNvPr>
          <p:cNvSpPr txBox="1"/>
          <p:nvPr/>
        </p:nvSpPr>
        <p:spPr>
          <a:xfrm>
            <a:off x="2010555" y="4040378"/>
            <a:ext cx="691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i="1" dirty="0">
                <a:latin typeface="Arial" panose="020B0604020202020204" pitchFamily="34" charset="0"/>
                <a:cs typeface="Arial" panose="020B0604020202020204" pitchFamily="34" charset="0"/>
              </a:rPr>
              <a:t>Бренд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D54490-198D-24C0-02E4-6BADA0DC4680}"/>
              </a:ext>
            </a:extLst>
          </p:cNvPr>
          <p:cNvSpPr txBox="1"/>
          <p:nvPr/>
        </p:nvSpPr>
        <p:spPr>
          <a:xfrm>
            <a:off x="3573730" y="4040378"/>
            <a:ext cx="1367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i="1" dirty="0">
                <a:latin typeface="Arial" panose="020B0604020202020204" pitchFamily="34" charset="0"/>
                <a:cs typeface="Arial" panose="020B0604020202020204" pitchFamily="34" charset="0"/>
              </a:rPr>
              <a:t>Перформанс</a:t>
            </a:r>
          </a:p>
        </p:txBody>
      </p:sp>
    </p:spTree>
    <p:extLst>
      <p:ext uri="{BB962C8B-B14F-4D97-AF65-F5344CB8AC3E}">
        <p14:creationId xmlns:p14="http://schemas.microsoft.com/office/powerpoint/2010/main" val="3419942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rcRect t="1507" r="760"/>
          <a:stretch>
            <a:fillRect/>
          </a:stretch>
        </p:blipFill>
        <p:spPr>
          <a:xfrm>
            <a:off x="188438" y="1376039"/>
            <a:ext cx="5682164" cy="2328126"/>
          </a:xfrm>
          <a:prstGeom prst="roundRect">
            <a:avLst>
              <a:gd name="adj" fmla="val 6858"/>
            </a:avLst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l="1014" t="3521" r="1026" b="4656"/>
          <a:stretch>
            <a:fillRect/>
          </a:stretch>
        </p:blipFill>
        <p:spPr>
          <a:xfrm>
            <a:off x="6041183" y="1376038"/>
            <a:ext cx="2923431" cy="1789783"/>
          </a:xfrm>
          <a:prstGeom prst="roundRect">
            <a:avLst>
              <a:gd name="adj" fmla="val 8488"/>
            </a:avLst>
          </a:prstGeom>
        </p:spPr>
      </p:pic>
      <p:sp>
        <p:nvSpPr>
          <p:cNvPr id="6" name="Google Shape;60;p14">
            <a:extLst>
              <a:ext uri="{FF2B5EF4-FFF2-40B4-BE49-F238E27FC236}">
                <a16:creationId xmlns:a16="http://schemas.microsoft.com/office/drawing/2014/main" id="{B70C3EB0-6A47-A785-6CFA-B26B50AC9C8D}"/>
              </a:ext>
            </a:extLst>
          </p:cNvPr>
          <p:cNvSpPr txBox="1">
            <a:spLocks/>
          </p:cNvSpPr>
          <p:nvPr/>
        </p:nvSpPr>
        <p:spPr>
          <a:xfrm>
            <a:off x="65988" y="242734"/>
            <a:ext cx="6450222" cy="116893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Как делать не нужно…</a:t>
            </a:r>
          </a:p>
        </p:txBody>
      </p:sp>
    </p:spTree>
    <p:extLst>
      <p:ext uri="{BB962C8B-B14F-4D97-AF65-F5344CB8AC3E}">
        <p14:creationId xmlns:p14="http://schemas.microsoft.com/office/powerpoint/2010/main" val="2589564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>
            <a:alphaModFix amt="70000"/>
          </a:blip>
          <a:srcRect l="6174" t="3979" r="9143" b="10577"/>
          <a:stretch/>
        </p:blipFill>
        <p:spPr>
          <a:xfrm>
            <a:off x="-724395" y="-166070"/>
            <a:ext cx="11450164" cy="5334254"/>
          </a:xfrm>
          <a:prstGeom prst="rect">
            <a:avLst/>
          </a:prstGeom>
        </p:spPr>
      </p:pic>
      <p:sp>
        <p:nvSpPr>
          <p:cNvPr id="4" name="Google Shape;60;p14">
            <a:extLst>
              <a:ext uri="{FF2B5EF4-FFF2-40B4-BE49-F238E27FC236}">
                <a16:creationId xmlns:a16="http://schemas.microsoft.com/office/drawing/2014/main" id="{6EC40F79-CD55-3118-C93E-7636B50F302B}"/>
              </a:ext>
            </a:extLst>
          </p:cNvPr>
          <p:cNvSpPr txBox="1">
            <a:spLocks/>
          </p:cNvSpPr>
          <p:nvPr/>
        </p:nvSpPr>
        <p:spPr>
          <a:xfrm>
            <a:off x="65988" y="242734"/>
            <a:ext cx="6450222" cy="116893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solidFill>
                  <a:schemeClr val="bg1"/>
                </a:solidFill>
              </a:rPr>
              <a:t>Как можно делать, если денег </a:t>
            </a:r>
            <a:r>
              <a:rPr lang="ru-RU" sz="4000" b="1" strike="sngStrike" dirty="0">
                <a:solidFill>
                  <a:schemeClr val="bg1"/>
                </a:solidFill>
              </a:rPr>
              <a:t>до***</a:t>
            </a:r>
            <a:r>
              <a:rPr lang="ru-RU" sz="4000" b="1" dirty="0">
                <a:solidFill>
                  <a:schemeClr val="bg1"/>
                </a:solidFill>
              </a:rPr>
              <a:t> много</a:t>
            </a:r>
            <a:endParaRPr lang="ru-RU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643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0;p14">
            <a:extLst>
              <a:ext uri="{FF2B5EF4-FFF2-40B4-BE49-F238E27FC236}">
                <a16:creationId xmlns:a16="http://schemas.microsoft.com/office/drawing/2014/main" id="{3AF8C4FA-D136-7885-2CFF-4CB82045E583}"/>
              </a:ext>
            </a:extLst>
          </p:cNvPr>
          <p:cNvSpPr txBox="1">
            <a:spLocks/>
          </p:cNvSpPr>
          <p:nvPr/>
        </p:nvSpPr>
        <p:spPr>
          <a:xfrm>
            <a:off x="65987" y="242734"/>
            <a:ext cx="6930035" cy="116893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Маркетинговая стратегия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447F2B-D917-7E00-C85C-8A8BB9040E83}"/>
              </a:ext>
            </a:extLst>
          </p:cNvPr>
          <p:cNvSpPr txBox="1"/>
          <p:nvPr/>
        </p:nvSpPr>
        <p:spPr>
          <a:xfrm>
            <a:off x="74613" y="896210"/>
            <a:ext cx="5771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" sz="1800" dirty="0">
                <a:solidFill>
                  <a:schemeClr val="tx1"/>
                </a:solidFill>
              </a:rPr>
              <a:t>Возможные варианты целей для ее формирования: </a:t>
            </a:r>
            <a:endParaRPr lang="ru-RU" sz="1800" dirty="0"/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C4109E5B-3A73-8FAD-A246-DC89519C9416}"/>
              </a:ext>
            </a:extLst>
          </p:cNvPr>
          <p:cNvSpPr/>
          <p:nvPr/>
        </p:nvSpPr>
        <p:spPr>
          <a:xfrm>
            <a:off x="194772" y="1345101"/>
            <a:ext cx="4323521" cy="1726896"/>
          </a:xfrm>
          <a:prstGeom prst="roundRect">
            <a:avLst>
              <a:gd name="adj" fmla="val 7975"/>
            </a:avLst>
          </a:prstGeom>
          <a:solidFill>
            <a:srgbClr val="B8F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tlCol="0" anchor="ctr" anchorCtr="0"/>
          <a:lstStyle/>
          <a:p>
            <a:pPr algn="ctr">
              <a:lnSpc>
                <a:spcPct val="90000"/>
              </a:lnSpc>
            </a:pPr>
            <a:r>
              <a:rPr lang="ru" dirty="0">
                <a:solidFill>
                  <a:schemeClr val="tx1"/>
                </a:solidFill>
              </a:rPr>
              <a:t>Показать быстрый рост при ограничениях на бюджет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C2130C80-DC60-2149-FEE5-A533743E05BE}"/>
              </a:ext>
            </a:extLst>
          </p:cNvPr>
          <p:cNvSpPr/>
          <p:nvPr/>
        </p:nvSpPr>
        <p:spPr>
          <a:xfrm>
            <a:off x="4641092" y="1345101"/>
            <a:ext cx="4323521" cy="1726896"/>
          </a:xfrm>
          <a:prstGeom prst="roundRect">
            <a:avLst>
              <a:gd name="adj" fmla="val 9973"/>
            </a:avLst>
          </a:prstGeom>
          <a:solidFill>
            <a:srgbClr val="1418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tlCol="0" anchor="ctr" anchorCtr="0"/>
          <a:lstStyle/>
          <a:p>
            <a:pPr algn="ctr">
              <a:lnSpc>
                <a:spcPct val="90000"/>
              </a:lnSpc>
            </a:pPr>
            <a:r>
              <a:rPr lang="ru" dirty="0">
                <a:solidFill>
                  <a:schemeClr val="bg1"/>
                </a:solidFill>
              </a:rPr>
              <a:t>Устойчиво привлекать клиентов по цене получаемого дохода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B48124C0-CBE2-E9B5-5642-CE836674DF1C}"/>
              </a:ext>
            </a:extLst>
          </p:cNvPr>
          <p:cNvSpPr/>
          <p:nvPr/>
        </p:nvSpPr>
        <p:spPr>
          <a:xfrm>
            <a:off x="194772" y="3191156"/>
            <a:ext cx="4323521" cy="1726896"/>
          </a:xfrm>
          <a:prstGeom prst="roundRect">
            <a:avLst>
              <a:gd name="adj" fmla="val 7975"/>
            </a:avLst>
          </a:prstGeom>
          <a:solidFill>
            <a:srgbClr val="0532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tlCol="0" anchor="ctr" anchorCtr="0"/>
          <a:lstStyle/>
          <a:p>
            <a:pPr algn="ctr">
              <a:lnSpc>
                <a:spcPct val="90000"/>
              </a:lnSpc>
            </a:pPr>
            <a:r>
              <a:rPr lang="ru" dirty="0">
                <a:solidFill>
                  <a:schemeClr val="bg1"/>
                </a:solidFill>
              </a:rPr>
              <a:t>Увеличить узнаваемость бренда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40B0A34B-AB40-D79C-CA69-09B3B79FEC54}"/>
              </a:ext>
            </a:extLst>
          </p:cNvPr>
          <p:cNvSpPr/>
          <p:nvPr/>
        </p:nvSpPr>
        <p:spPr>
          <a:xfrm>
            <a:off x="4641092" y="3191156"/>
            <a:ext cx="4323521" cy="1726896"/>
          </a:xfrm>
          <a:prstGeom prst="roundRect">
            <a:avLst>
              <a:gd name="adj" fmla="val 9973"/>
            </a:avLst>
          </a:prstGeom>
          <a:solidFill>
            <a:srgbClr val="DCFF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tlCol="0" anchor="ctr" anchorCtr="0"/>
          <a:lstStyle/>
          <a:p>
            <a:pPr algn="ctr">
              <a:lnSpc>
                <a:spcPct val="90000"/>
              </a:lnSpc>
            </a:pPr>
            <a:r>
              <a:rPr lang="ru" dirty="0">
                <a:solidFill>
                  <a:schemeClr val="tx1"/>
                </a:solidFill>
              </a:rPr>
              <a:t>Привлечь новую ЦА</a:t>
            </a:r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053" y="2571750"/>
            <a:ext cx="3318559" cy="2322736"/>
          </a:xfrm>
          <a:prstGeom prst="roundRect">
            <a:avLst>
              <a:gd name="adj" fmla="val 805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60;p14">
            <a:extLst>
              <a:ext uri="{FF2B5EF4-FFF2-40B4-BE49-F238E27FC236}">
                <a16:creationId xmlns:a16="http://schemas.microsoft.com/office/drawing/2014/main" id="{0F784960-165F-EEE5-156E-BF2386CE28AD}"/>
              </a:ext>
            </a:extLst>
          </p:cNvPr>
          <p:cNvSpPr txBox="1">
            <a:spLocks/>
          </p:cNvSpPr>
          <p:nvPr/>
        </p:nvSpPr>
        <p:spPr>
          <a:xfrm>
            <a:off x="65987" y="242734"/>
            <a:ext cx="6930035" cy="116893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solidFill>
                  <a:schemeClr val="bg1"/>
                </a:solidFill>
              </a:rPr>
              <a:t>Как будем оценивать эффективность решений?</a:t>
            </a:r>
            <a:endParaRPr lang="ru-RU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89F360-75C6-7901-405F-4FE33D027FCB}"/>
              </a:ext>
            </a:extLst>
          </p:cNvPr>
          <p:cNvSpPr txBox="1"/>
          <p:nvPr/>
        </p:nvSpPr>
        <p:spPr>
          <a:xfrm>
            <a:off x="74613" y="1294373"/>
            <a:ext cx="5771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" sz="1800" dirty="0">
                <a:solidFill>
                  <a:schemeClr val="bg1"/>
                </a:solidFill>
              </a:rPr>
              <a:t>Набрасываем</a:t>
            </a:r>
            <a:endParaRPr lang="ru-RU" sz="1800" dirty="0">
              <a:solidFill>
                <a:schemeClr val="bg1"/>
              </a:solidFill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0100A59-1E55-F75A-05BC-E993A5320F56}"/>
              </a:ext>
            </a:extLst>
          </p:cNvPr>
          <p:cNvCxnSpPr>
            <a:cxnSpLocks/>
          </p:cNvCxnSpPr>
          <p:nvPr/>
        </p:nvCxnSpPr>
        <p:spPr>
          <a:xfrm>
            <a:off x="1775617" y="1501516"/>
            <a:ext cx="1286760" cy="0"/>
          </a:xfrm>
          <a:prstGeom prst="line">
            <a:avLst/>
          </a:prstGeom>
          <a:ln w="19050" cap="rnd">
            <a:solidFill>
              <a:schemeClr val="bg1"/>
            </a:solidFill>
            <a:headEnd type="none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662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0;p14">
            <a:extLst>
              <a:ext uri="{FF2B5EF4-FFF2-40B4-BE49-F238E27FC236}">
                <a16:creationId xmlns:a16="http://schemas.microsoft.com/office/drawing/2014/main" id="{3FFFC65E-72C9-FF2B-0BA9-C5EEAF8FB934}"/>
              </a:ext>
            </a:extLst>
          </p:cNvPr>
          <p:cNvSpPr txBox="1">
            <a:spLocks/>
          </p:cNvSpPr>
          <p:nvPr/>
        </p:nvSpPr>
        <p:spPr>
          <a:xfrm>
            <a:off x="65988" y="242734"/>
            <a:ext cx="7042178" cy="116893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Метрики. Расходная часть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EC6F6C2B-1C73-C4BC-53D7-227F96237499}"/>
              </a:ext>
            </a:extLst>
          </p:cNvPr>
          <p:cNvSpPr/>
          <p:nvPr/>
        </p:nvSpPr>
        <p:spPr>
          <a:xfrm>
            <a:off x="188015" y="1106370"/>
            <a:ext cx="2808000" cy="1300400"/>
          </a:xfrm>
          <a:prstGeom prst="roundRect">
            <a:avLst>
              <a:gd name="adj" fmla="val 12203"/>
            </a:avLst>
          </a:prstGeom>
          <a:solidFill>
            <a:srgbClr val="0532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251999" rtlCol="0" anchor="t" anchorCtr="0"/>
          <a:lstStyle/>
          <a:p>
            <a:pPr>
              <a:spcBef>
                <a:spcPts val="600"/>
              </a:spcBef>
            </a:pPr>
            <a:r>
              <a:rPr lang="ru" b="1" dirty="0">
                <a:solidFill>
                  <a:schemeClr val="bg1"/>
                </a:solidFill>
              </a:rPr>
              <a:t>CPС </a:t>
            </a:r>
            <a:r>
              <a:rPr lang="ru" dirty="0">
                <a:solidFill>
                  <a:schemeClr val="bg1"/>
                </a:solidFill>
              </a:rPr>
              <a:t>(cost per click)</a:t>
            </a:r>
          </a:p>
          <a:p>
            <a:pPr>
              <a:spcBef>
                <a:spcPts val="600"/>
              </a:spcBef>
            </a:pPr>
            <a:r>
              <a:rPr lang="ru" sz="1200" dirty="0">
                <a:solidFill>
                  <a:schemeClr val="bg1"/>
                </a:solidFill>
              </a:rPr>
              <a:t>стоимость клика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8665F6F5-9DCC-0374-9970-93919C35DAE5}"/>
              </a:ext>
            </a:extLst>
          </p:cNvPr>
          <p:cNvSpPr/>
          <p:nvPr/>
        </p:nvSpPr>
        <p:spPr>
          <a:xfrm>
            <a:off x="3173626" y="1106370"/>
            <a:ext cx="2808000" cy="1300400"/>
          </a:xfrm>
          <a:prstGeom prst="roundRect">
            <a:avLst>
              <a:gd name="adj" fmla="val 12203"/>
            </a:avLst>
          </a:prstGeom>
          <a:solidFill>
            <a:srgbClr val="DCFF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251999" rtlCol="0" anchor="t" anchorCtr="0"/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/>
                </a:solidFill>
              </a:rPr>
              <a:t>CPA </a:t>
            </a:r>
            <a:r>
              <a:rPr lang="en-US" dirty="0">
                <a:solidFill>
                  <a:schemeClr val="tx1"/>
                </a:solidFill>
              </a:rPr>
              <a:t>(cost per action)</a:t>
            </a:r>
            <a:endParaRPr lang="ru-RU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ru-RU" sz="1200" dirty="0">
                <a:solidFill>
                  <a:schemeClr val="tx1"/>
                </a:solidFill>
              </a:rPr>
              <a:t>стоимость целевого действия</a:t>
            </a: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888EB811-3B4B-C3BA-B67F-DA15DA79493C}"/>
              </a:ext>
            </a:extLst>
          </p:cNvPr>
          <p:cNvSpPr/>
          <p:nvPr/>
        </p:nvSpPr>
        <p:spPr>
          <a:xfrm>
            <a:off x="6159237" y="1106370"/>
            <a:ext cx="2808000" cy="1300400"/>
          </a:xfrm>
          <a:prstGeom prst="roundRect">
            <a:avLst>
              <a:gd name="adj" fmla="val 12203"/>
            </a:avLst>
          </a:prstGeom>
          <a:solidFill>
            <a:srgbClr val="B8F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251999" rtlCol="0" anchor="t" anchorCtr="0"/>
          <a:lstStyle/>
          <a:p>
            <a:pPr>
              <a:spcBef>
                <a:spcPts val="600"/>
              </a:spcBef>
            </a:pPr>
            <a:r>
              <a:rPr lang="en" b="1" dirty="0">
                <a:solidFill>
                  <a:schemeClr val="tx1"/>
                </a:solidFill>
              </a:rPr>
              <a:t>CPO </a:t>
            </a:r>
            <a:r>
              <a:rPr lang="en" dirty="0">
                <a:solidFill>
                  <a:schemeClr val="tx1"/>
                </a:solidFill>
              </a:rPr>
              <a:t>(cost per order) </a:t>
            </a:r>
            <a:endParaRPr lang="ru-RU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ru-RU" sz="1200" dirty="0">
                <a:solidFill>
                  <a:schemeClr val="tx1"/>
                </a:solidFill>
              </a:rPr>
              <a:t>стоимость привлечения заказа</a:t>
            </a:r>
          </a:p>
          <a:p>
            <a:pPr>
              <a:spcBef>
                <a:spcPts val="600"/>
              </a:spcBef>
            </a:pP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AD339A-8F0B-B9B7-7EC4-F15F62DAAEC0}"/>
              </a:ext>
            </a:extLst>
          </p:cNvPr>
          <p:cNvSpPr txBox="1"/>
          <p:nvPr/>
        </p:nvSpPr>
        <p:spPr>
          <a:xfrm>
            <a:off x="3173626" y="4047978"/>
            <a:ext cx="5790986" cy="51077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 lvl="0" indent="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200"/>
              <a:buNone/>
            </a:pPr>
            <a:r>
              <a:rPr lang="ru-RU" sz="1200" dirty="0">
                <a:solidFill>
                  <a:schemeClr val="tx1"/>
                </a:solidFill>
                <a:sym typeface="Roboto"/>
              </a:rPr>
              <a:t>Более сложный вариант расчета </a:t>
            </a:r>
            <a:r>
              <a:rPr lang="en" sz="1200" dirty="0">
                <a:solidFill>
                  <a:schemeClr val="tx1"/>
                </a:solidFill>
                <a:sym typeface="Roboto"/>
              </a:rPr>
              <a:t>CAC </a:t>
            </a:r>
            <a:r>
              <a:rPr lang="ru-RU" sz="1200" dirty="0">
                <a:solidFill>
                  <a:schemeClr val="tx1"/>
                </a:solidFill>
                <a:sym typeface="Roboto"/>
              </a:rPr>
              <a:t>включает не только прямые расходы на канал трафика, но и ассоциированные с этим расходы </a:t>
            </a:r>
            <a:r>
              <a:rPr lang="ru-RU" sz="1200" dirty="0" err="1">
                <a:solidFill>
                  <a:schemeClr val="tx1"/>
                </a:solidFill>
                <a:sym typeface="Roboto"/>
              </a:rPr>
              <a:t>компани</a:t>
            </a:r>
            <a:r>
              <a:rPr lang="ru-RU" sz="1200" dirty="0">
                <a:solidFill>
                  <a:schemeClr val="tx1"/>
                </a:solidFill>
                <a:sym typeface="Roboto"/>
              </a:rPr>
              <a:t> </a:t>
            </a: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AC1431F2-957A-1064-26B9-BFF2C48250BB}"/>
              </a:ext>
            </a:extLst>
          </p:cNvPr>
          <p:cNvSpPr/>
          <p:nvPr/>
        </p:nvSpPr>
        <p:spPr>
          <a:xfrm>
            <a:off x="188015" y="2572860"/>
            <a:ext cx="2808000" cy="1994521"/>
          </a:xfrm>
          <a:prstGeom prst="roundRect">
            <a:avLst>
              <a:gd name="adj" fmla="val 7445"/>
            </a:avLst>
          </a:prstGeom>
          <a:solidFill>
            <a:srgbClr val="DCFF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251999" rtlCol="0" anchor="t" anchorCtr="0"/>
          <a:lstStyle/>
          <a:p>
            <a:pPr>
              <a:spcBef>
                <a:spcPts val="600"/>
              </a:spcBef>
            </a:pPr>
            <a:r>
              <a:rPr lang="ru" b="1" dirty="0">
                <a:solidFill>
                  <a:schemeClr val="tx1"/>
                </a:solidFill>
              </a:rPr>
              <a:t>CPL </a:t>
            </a:r>
            <a:r>
              <a:rPr lang="ru" dirty="0">
                <a:solidFill>
                  <a:schemeClr val="tx1"/>
                </a:solidFill>
              </a:rPr>
              <a:t>(cost per lead) </a:t>
            </a:r>
          </a:p>
          <a:p>
            <a:pPr>
              <a:spcBef>
                <a:spcPts val="600"/>
              </a:spcBef>
            </a:pPr>
            <a:r>
              <a:rPr lang="ru" sz="1200" dirty="0">
                <a:solidFill>
                  <a:schemeClr val="tx1"/>
                </a:solidFill>
              </a:rPr>
              <a:t>стоимость привлечения потенциального клиента</a:t>
            </a: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5065812-87DF-2CCB-78C1-CEEE1D3C33D8}"/>
              </a:ext>
            </a:extLst>
          </p:cNvPr>
          <p:cNvSpPr/>
          <p:nvPr/>
        </p:nvSpPr>
        <p:spPr>
          <a:xfrm>
            <a:off x="3173626" y="2572861"/>
            <a:ext cx="2808000" cy="1300400"/>
          </a:xfrm>
          <a:prstGeom prst="roundRect">
            <a:avLst>
              <a:gd name="adj" fmla="val 12203"/>
            </a:avLst>
          </a:prstGeom>
          <a:solidFill>
            <a:srgbClr val="B8F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251999" rtlCol="0" anchor="t" anchorCtr="0"/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/>
                </a:solidFill>
              </a:rPr>
              <a:t>CPM </a:t>
            </a:r>
            <a:r>
              <a:rPr lang="en-US" dirty="0">
                <a:solidFill>
                  <a:schemeClr val="tx1"/>
                </a:solidFill>
              </a:rPr>
              <a:t>(cost per </a:t>
            </a:r>
            <a:r>
              <a:rPr lang="en-US" dirty="0" err="1">
                <a:solidFill>
                  <a:schemeClr val="tx1"/>
                </a:solidFill>
              </a:rPr>
              <a:t>mille</a:t>
            </a:r>
            <a:r>
              <a:rPr lang="ru-RU" dirty="0">
                <a:solidFill>
                  <a:schemeClr val="tx1"/>
                </a:solidFill>
              </a:rPr>
              <a:t>)</a:t>
            </a:r>
            <a:endParaRPr lang="ru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ru-RU" sz="1200" dirty="0">
                <a:solidFill>
                  <a:schemeClr val="tx1"/>
                </a:solidFill>
              </a:rPr>
              <a:t>цена, которую рекламодатель платит за 1000 показов рекламы</a:t>
            </a:r>
            <a:endParaRPr lang="ru" sz="1200" dirty="0">
              <a:solidFill>
                <a:schemeClr val="tx1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631DE32-BC6A-B29A-884F-6DFFEEBB8F72}"/>
              </a:ext>
            </a:extLst>
          </p:cNvPr>
          <p:cNvSpPr/>
          <p:nvPr/>
        </p:nvSpPr>
        <p:spPr>
          <a:xfrm>
            <a:off x="6159237" y="2572861"/>
            <a:ext cx="2808000" cy="1300400"/>
          </a:xfrm>
          <a:prstGeom prst="roundRect">
            <a:avLst>
              <a:gd name="adj" fmla="val 12203"/>
            </a:avLst>
          </a:prstGeom>
          <a:solidFill>
            <a:srgbClr val="1418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251999" rtlCol="0" anchor="t" anchorCtr="0"/>
          <a:lstStyle/>
          <a:p>
            <a:pPr>
              <a:spcBef>
                <a:spcPts val="600"/>
              </a:spcBef>
            </a:pPr>
            <a:r>
              <a:rPr lang="ru" b="1" dirty="0">
                <a:solidFill>
                  <a:schemeClr val="bg1"/>
                </a:solidFill>
              </a:rPr>
              <a:t>CAC </a:t>
            </a:r>
            <a:r>
              <a:rPr lang="ru" dirty="0">
                <a:solidFill>
                  <a:schemeClr val="bg1"/>
                </a:solidFill>
              </a:rPr>
              <a:t>(customer </a:t>
            </a:r>
            <a:r>
              <a:rPr lang="ru" dirty="0">
                <a:solidFill>
                  <a:schemeClr val="bg1"/>
                </a:solidFill>
                <a:sym typeface="Roboto"/>
              </a:rPr>
              <a:t>acquisition cost)</a:t>
            </a:r>
          </a:p>
          <a:p>
            <a:pPr>
              <a:spcBef>
                <a:spcPts val="600"/>
              </a:spcBef>
            </a:pPr>
            <a:r>
              <a:rPr lang="ru" sz="1200" dirty="0">
                <a:solidFill>
                  <a:schemeClr val="bg1"/>
                </a:solidFill>
                <a:sym typeface="Roboto"/>
              </a:rPr>
              <a:t>стоимость привлечения клиента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0;p14">
            <a:extLst>
              <a:ext uri="{FF2B5EF4-FFF2-40B4-BE49-F238E27FC236}">
                <a16:creationId xmlns:a16="http://schemas.microsoft.com/office/drawing/2014/main" id="{E58CAA77-C920-D9E9-7FA6-D45E7D2BD401}"/>
              </a:ext>
            </a:extLst>
          </p:cNvPr>
          <p:cNvSpPr txBox="1">
            <a:spLocks/>
          </p:cNvSpPr>
          <p:nvPr/>
        </p:nvSpPr>
        <p:spPr>
          <a:xfrm>
            <a:off x="65988" y="242734"/>
            <a:ext cx="7042178" cy="116893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Метрики. Доходная часть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F33908-34D4-D5B5-9E14-ACB65291A869}"/>
              </a:ext>
            </a:extLst>
          </p:cNvPr>
          <p:cNvSpPr txBox="1"/>
          <p:nvPr/>
        </p:nvSpPr>
        <p:spPr>
          <a:xfrm>
            <a:off x="98918" y="1087959"/>
            <a:ext cx="25391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" dirty="0">
                <a:solidFill>
                  <a:schemeClr val="tx1"/>
                </a:solidFill>
              </a:rPr>
              <a:t>Финансовые метрики: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5F5CFE-1716-4531-38CB-6D70A6952525}"/>
              </a:ext>
            </a:extLst>
          </p:cNvPr>
          <p:cNvSpPr txBox="1"/>
          <p:nvPr/>
        </p:nvSpPr>
        <p:spPr>
          <a:xfrm>
            <a:off x="4634414" y="866564"/>
            <a:ext cx="40143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" dirty="0">
                <a:solidFill>
                  <a:schemeClr val="tx1"/>
                </a:solidFill>
              </a:rPr>
              <a:t>Продуктовые метрики, которые влияют на ключевые финансовые метрики:</a:t>
            </a:r>
            <a:endParaRPr lang="ru-RU" dirty="0"/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0035403A-FFDE-55A1-3480-D9902D2198A3}"/>
              </a:ext>
            </a:extLst>
          </p:cNvPr>
          <p:cNvSpPr/>
          <p:nvPr/>
        </p:nvSpPr>
        <p:spPr>
          <a:xfrm>
            <a:off x="188015" y="1511721"/>
            <a:ext cx="2082984" cy="1451996"/>
          </a:xfrm>
          <a:prstGeom prst="roundRect">
            <a:avLst>
              <a:gd name="adj" fmla="val 12203"/>
            </a:avLst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108000" rtlCol="0" anchor="t" anchorCtr="0"/>
          <a:lstStyle/>
          <a:p>
            <a:pPr>
              <a:spcBef>
                <a:spcPts val="600"/>
              </a:spcBef>
            </a:pPr>
            <a:r>
              <a:rPr lang="en" sz="1200" b="1" dirty="0">
                <a:solidFill>
                  <a:schemeClr val="tx1"/>
                </a:solidFill>
              </a:rPr>
              <a:t>ARPU </a:t>
            </a:r>
            <a:r>
              <a:rPr lang="en" sz="1200" dirty="0">
                <a:solidFill>
                  <a:schemeClr val="tx1"/>
                </a:solidFill>
              </a:rPr>
              <a:t>(</a:t>
            </a:r>
            <a:r>
              <a:rPr lang="en" sz="1200" dirty="0">
                <a:solidFill>
                  <a:schemeClr val="tx1"/>
                </a:solidFill>
                <a:sym typeface="Roboto"/>
              </a:rPr>
              <a:t>average revenue per user) </a:t>
            </a:r>
            <a:endParaRPr lang="ru-RU" sz="1200" b="1" dirty="0">
              <a:solidFill>
                <a:schemeClr val="tx1"/>
              </a:solidFill>
              <a:sym typeface="Roboto"/>
            </a:endParaRPr>
          </a:p>
          <a:p>
            <a:pPr>
              <a:spcBef>
                <a:spcPts val="600"/>
              </a:spcBef>
            </a:pPr>
            <a:r>
              <a:rPr lang="ru-RU" sz="1000" dirty="0">
                <a:solidFill>
                  <a:schemeClr val="tx1"/>
                </a:solidFill>
                <a:sym typeface="Roboto"/>
              </a:rPr>
              <a:t>доход на одного пользователя 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6770B3A9-CD5E-7838-3830-701AC2F190E0}"/>
              </a:ext>
            </a:extLst>
          </p:cNvPr>
          <p:cNvSpPr/>
          <p:nvPr/>
        </p:nvSpPr>
        <p:spPr>
          <a:xfrm>
            <a:off x="2376874" y="1511720"/>
            <a:ext cx="2082984" cy="1451995"/>
          </a:xfrm>
          <a:prstGeom prst="roundRect">
            <a:avLst>
              <a:gd name="adj" fmla="val 12203"/>
            </a:avLst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108000" rtlCol="0" anchor="t" anchorCtr="0"/>
          <a:lstStyle/>
          <a:p>
            <a:pPr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</a:rPr>
              <a:t>ARPPU </a:t>
            </a:r>
            <a:r>
              <a:rPr lang="en-US" sz="1200" dirty="0">
                <a:solidFill>
                  <a:schemeClr val="tx1"/>
                </a:solidFill>
              </a:rPr>
              <a:t>(average revenue per paying user)</a:t>
            </a:r>
            <a:endParaRPr lang="ru-RU" sz="12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ru-RU" sz="1000" dirty="0">
                <a:solidFill>
                  <a:schemeClr val="tx1"/>
                </a:solidFill>
              </a:rPr>
              <a:t>доход на одного платящего пользователя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FD80C5DA-1D87-E8AC-7E34-493729CBD57B}"/>
              </a:ext>
            </a:extLst>
          </p:cNvPr>
          <p:cNvSpPr/>
          <p:nvPr/>
        </p:nvSpPr>
        <p:spPr>
          <a:xfrm>
            <a:off x="188015" y="3064476"/>
            <a:ext cx="2082984" cy="1451996"/>
          </a:xfrm>
          <a:prstGeom prst="roundRect">
            <a:avLst>
              <a:gd name="adj" fmla="val 12203"/>
            </a:avLst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108000" rtlCol="0" anchor="t" anchorCtr="0"/>
          <a:lstStyle/>
          <a:p>
            <a:pPr>
              <a:spcBef>
                <a:spcPts val="600"/>
              </a:spcBef>
            </a:pPr>
            <a:r>
              <a:rPr lang="en" sz="1200" b="1" dirty="0">
                <a:solidFill>
                  <a:schemeClr val="tx1"/>
                </a:solidFill>
              </a:rPr>
              <a:t>AOV </a:t>
            </a:r>
            <a:r>
              <a:rPr lang="en" sz="1200" dirty="0">
                <a:solidFill>
                  <a:schemeClr val="tx1"/>
                </a:solidFill>
              </a:rPr>
              <a:t>(</a:t>
            </a:r>
            <a:r>
              <a:rPr lang="en" sz="1200" dirty="0">
                <a:solidFill>
                  <a:schemeClr val="tx1"/>
                </a:solidFill>
                <a:sym typeface="Roboto"/>
              </a:rPr>
              <a:t>average order value)</a:t>
            </a:r>
            <a:r>
              <a:rPr lang="en" sz="1200" b="1" dirty="0">
                <a:solidFill>
                  <a:schemeClr val="tx1"/>
                </a:solidFill>
                <a:sym typeface="Roboto"/>
              </a:rPr>
              <a:t> </a:t>
            </a:r>
            <a:endParaRPr lang="ru-RU" sz="1200" b="1" dirty="0">
              <a:solidFill>
                <a:schemeClr val="tx1"/>
              </a:solidFill>
              <a:sym typeface="Roboto"/>
            </a:endParaRPr>
          </a:p>
          <a:p>
            <a:pPr>
              <a:spcBef>
                <a:spcPts val="600"/>
              </a:spcBef>
            </a:pPr>
            <a:r>
              <a:rPr lang="ru-RU" sz="1000" dirty="0">
                <a:solidFill>
                  <a:schemeClr val="tx1"/>
                </a:solidFill>
                <a:sym typeface="Roboto"/>
              </a:rPr>
              <a:t>средний чек 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6FDDED9F-EFBD-A89D-8692-C0EA47F50272}"/>
              </a:ext>
            </a:extLst>
          </p:cNvPr>
          <p:cNvSpPr/>
          <p:nvPr/>
        </p:nvSpPr>
        <p:spPr>
          <a:xfrm>
            <a:off x="2376874" y="3064475"/>
            <a:ext cx="2082984" cy="1451995"/>
          </a:xfrm>
          <a:prstGeom prst="roundRect">
            <a:avLst>
              <a:gd name="adj" fmla="val 12203"/>
            </a:avLst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108000" rtlCol="0" anchor="t" anchorCtr="0"/>
          <a:lstStyle/>
          <a:p>
            <a:pPr>
              <a:spcBef>
                <a:spcPts val="600"/>
              </a:spcBef>
            </a:pPr>
            <a:r>
              <a:rPr lang="en" sz="1200" b="1" dirty="0">
                <a:solidFill>
                  <a:schemeClr val="tx1"/>
                </a:solidFill>
              </a:rPr>
              <a:t>LTV </a:t>
            </a:r>
            <a:r>
              <a:rPr lang="en" sz="1200" dirty="0">
                <a:solidFill>
                  <a:schemeClr val="tx1"/>
                </a:solidFill>
              </a:rPr>
              <a:t>(</a:t>
            </a:r>
            <a:r>
              <a:rPr lang="en" sz="1200" dirty="0">
                <a:solidFill>
                  <a:schemeClr val="tx1"/>
                </a:solidFill>
                <a:sym typeface="Roboto"/>
              </a:rPr>
              <a:t>lifetime value) </a:t>
            </a:r>
            <a:endParaRPr lang="ru-RU" sz="1200" b="1" dirty="0">
              <a:solidFill>
                <a:schemeClr val="tx1"/>
              </a:solidFill>
              <a:sym typeface="Roboto"/>
            </a:endParaRPr>
          </a:p>
          <a:p>
            <a:pPr>
              <a:spcBef>
                <a:spcPts val="600"/>
              </a:spcBef>
            </a:pPr>
            <a:r>
              <a:rPr lang="ru-RU" sz="1000" dirty="0">
                <a:solidFill>
                  <a:schemeClr val="tx1"/>
                </a:solidFill>
                <a:sym typeface="Roboto"/>
              </a:rPr>
              <a:t>сколько денег приносит пользователь за все время пользования 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39AE2391-BEA0-4C88-383C-0C7726356B47}"/>
              </a:ext>
            </a:extLst>
          </p:cNvPr>
          <p:cNvSpPr/>
          <p:nvPr/>
        </p:nvSpPr>
        <p:spPr>
          <a:xfrm>
            <a:off x="4682376" y="1511721"/>
            <a:ext cx="2082984" cy="1451996"/>
          </a:xfrm>
          <a:prstGeom prst="roundRect">
            <a:avLst>
              <a:gd name="adj" fmla="val 12203"/>
            </a:avLst>
          </a:prstGeom>
          <a:solidFill>
            <a:srgbClr val="B8F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108000" rtlCol="0" anchor="t" anchorCtr="0"/>
          <a:lstStyle/>
          <a:p>
            <a:pPr>
              <a:spcBef>
                <a:spcPts val="600"/>
              </a:spcBef>
            </a:pPr>
            <a:r>
              <a:rPr lang="en" sz="1200" b="1" dirty="0">
                <a:solidFill>
                  <a:schemeClr val="tx1"/>
                </a:solidFill>
              </a:rPr>
              <a:t>CR </a:t>
            </a:r>
            <a:r>
              <a:rPr lang="en" sz="1200" dirty="0">
                <a:solidFill>
                  <a:schemeClr val="tx1"/>
                </a:solidFill>
              </a:rPr>
              <a:t>(</a:t>
            </a:r>
            <a:r>
              <a:rPr lang="en" sz="1200" dirty="0">
                <a:solidFill>
                  <a:schemeClr val="tx1"/>
                </a:solidFill>
                <a:sym typeface="Roboto"/>
              </a:rPr>
              <a:t>conversion rate)</a:t>
            </a:r>
            <a:endParaRPr lang="ru-RU" sz="1200" dirty="0">
              <a:solidFill>
                <a:schemeClr val="tx1"/>
              </a:solidFill>
              <a:sym typeface="Roboto"/>
            </a:endParaRPr>
          </a:p>
          <a:p>
            <a:pPr>
              <a:spcBef>
                <a:spcPts val="600"/>
              </a:spcBef>
            </a:pPr>
            <a:r>
              <a:rPr lang="ru-RU" sz="1000" dirty="0">
                <a:solidFill>
                  <a:schemeClr val="tx1"/>
                </a:solidFill>
                <a:sym typeface="Roboto"/>
              </a:rPr>
              <a:t>конверсия в целевое действие 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F4261C2-EC94-DB6E-4431-E7DFB74079D9}"/>
              </a:ext>
            </a:extLst>
          </p:cNvPr>
          <p:cNvSpPr/>
          <p:nvPr/>
        </p:nvSpPr>
        <p:spPr>
          <a:xfrm>
            <a:off x="6871235" y="1511720"/>
            <a:ext cx="2082984" cy="1451995"/>
          </a:xfrm>
          <a:prstGeom prst="roundRect">
            <a:avLst>
              <a:gd name="adj" fmla="val 12203"/>
            </a:avLst>
          </a:prstGeom>
          <a:solidFill>
            <a:srgbClr val="B8F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108000" rtlCol="0" anchor="t" anchorCtr="0"/>
          <a:lstStyle/>
          <a:p>
            <a:pPr>
              <a:spcBef>
                <a:spcPts val="600"/>
              </a:spcBef>
            </a:pPr>
            <a:r>
              <a:rPr lang="en" sz="1200" b="1" dirty="0">
                <a:solidFill>
                  <a:schemeClr val="tx1"/>
                </a:solidFill>
              </a:rPr>
              <a:t>Retention</a:t>
            </a:r>
            <a:endParaRPr lang="ru-RU" sz="1200" b="1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ru-RU" sz="1000" dirty="0" err="1">
                <a:solidFill>
                  <a:schemeClr val="tx1"/>
                </a:solidFill>
              </a:rPr>
              <a:t>возвращаемость</a:t>
            </a:r>
            <a:endParaRPr lang="ru-RU" sz="1000" dirty="0">
              <a:solidFill>
                <a:schemeClr val="tx1"/>
              </a:solidFill>
              <a:sym typeface="Roboto"/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C01729B0-642C-EB86-4B88-A9CC1C01C1F1}"/>
              </a:ext>
            </a:extLst>
          </p:cNvPr>
          <p:cNvSpPr/>
          <p:nvPr/>
        </p:nvSpPr>
        <p:spPr>
          <a:xfrm>
            <a:off x="4682375" y="3064476"/>
            <a:ext cx="4282237" cy="1451996"/>
          </a:xfrm>
          <a:prstGeom prst="roundRect">
            <a:avLst>
              <a:gd name="adj" fmla="val 12203"/>
            </a:avLst>
          </a:prstGeom>
          <a:solidFill>
            <a:srgbClr val="B8F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108000" rtlCol="0" anchor="t" anchorCtr="0"/>
          <a:lstStyle/>
          <a:p>
            <a:pPr>
              <a:spcBef>
                <a:spcPts val="600"/>
              </a:spcBef>
            </a:pPr>
            <a:r>
              <a:rPr lang="en" sz="1200" b="1" dirty="0">
                <a:solidFill>
                  <a:schemeClr val="tx1"/>
                </a:solidFill>
                <a:sym typeface="Roboto"/>
              </a:rPr>
              <a:t>Lifetime </a:t>
            </a:r>
            <a:endParaRPr lang="ru-RU" sz="1200" b="1" dirty="0">
              <a:solidFill>
                <a:schemeClr val="tx1"/>
              </a:solidFill>
              <a:sym typeface="Roboto"/>
            </a:endParaRPr>
          </a:p>
          <a:p>
            <a:pPr>
              <a:spcBef>
                <a:spcPts val="600"/>
              </a:spcBef>
            </a:pPr>
            <a:r>
              <a:rPr lang="ru-RU" sz="1000" dirty="0">
                <a:solidFill>
                  <a:schemeClr val="tx1"/>
                </a:solidFill>
                <a:sym typeface="Roboto"/>
              </a:rPr>
              <a:t>время активного пользования продуктом («жизни» пользователя в продукте)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0;p14">
            <a:extLst>
              <a:ext uri="{FF2B5EF4-FFF2-40B4-BE49-F238E27FC236}">
                <a16:creationId xmlns:a16="http://schemas.microsoft.com/office/drawing/2014/main" id="{3E0F07AA-5AEC-59BF-05F5-9D58B947A37B}"/>
              </a:ext>
            </a:extLst>
          </p:cNvPr>
          <p:cNvSpPr txBox="1">
            <a:spLocks/>
          </p:cNvSpPr>
          <p:nvPr/>
        </p:nvSpPr>
        <p:spPr>
          <a:xfrm>
            <a:off x="65988" y="242734"/>
            <a:ext cx="7042178" cy="116893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Метрики. Окупаемость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3A1BCD0B-5E3C-52FD-0A4B-C3CAEEE3A109}"/>
              </a:ext>
            </a:extLst>
          </p:cNvPr>
          <p:cNvSpPr/>
          <p:nvPr/>
        </p:nvSpPr>
        <p:spPr>
          <a:xfrm>
            <a:off x="188015" y="1106370"/>
            <a:ext cx="2808000" cy="3198212"/>
          </a:xfrm>
          <a:prstGeom prst="roundRect">
            <a:avLst>
              <a:gd name="adj" fmla="val 6366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251999" rtlCol="0" anchor="t" anchorCtr="0"/>
          <a:lstStyle/>
          <a:p>
            <a:pPr>
              <a:spcBef>
                <a:spcPts val="600"/>
              </a:spcBef>
            </a:pPr>
            <a:r>
              <a:rPr lang="ru" b="1" dirty="0">
                <a:solidFill>
                  <a:schemeClr val="tx1"/>
                </a:solidFill>
              </a:rPr>
              <a:t>ROI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ru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chemeClr val="tx1"/>
                </a:solidFill>
                <a:sym typeface="Roboto"/>
              </a:rPr>
              <a:t>r</a:t>
            </a:r>
            <a:r>
              <a:rPr lang="ru" dirty="0">
                <a:solidFill>
                  <a:schemeClr val="tx1"/>
                </a:solidFill>
                <a:sym typeface="Roboto"/>
              </a:rPr>
              <a:t>eturn on investment)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8F3974EA-C3BE-4735-FC33-675CB68416B2}"/>
              </a:ext>
            </a:extLst>
          </p:cNvPr>
          <p:cNvSpPr/>
          <p:nvPr/>
        </p:nvSpPr>
        <p:spPr>
          <a:xfrm>
            <a:off x="3168441" y="1106370"/>
            <a:ext cx="2808000" cy="3198212"/>
          </a:xfrm>
          <a:prstGeom prst="roundRect">
            <a:avLst>
              <a:gd name="adj" fmla="val 6366"/>
            </a:avLst>
          </a:prstGeom>
          <a:solidFill>
            <a:srgbClr val="DCFF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251999" rtlCol="0" anchor="t" anchorCtr="0"/>
          <a:lstStyle/>
          <a:p>
            <a:pPr>
              <a:spcBef>
                <a:spcPts val="600"/>
              </a:spcBef>
            </a:pPr>
            <a:r>
              <a:rPr lang="ru" b="1" dirty="0">
                <a:solidFill>
                  <a:schemeClr val="tx1"/>
                </a:solidFill>
              </a:rPr>
              <a:t>ROMI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ru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chemeClr val="tx1"/>
                </a:solidFill>
                <a:sym typeface="Roboto"/>
              </a:rPr>
              <a:t>r</a:t>
            </a:r>
            <a:r>
              <a:rPr lang="ru" dirty="0">
                <a:solidFill>
                  <a:schemeClr val="tx1"/>
                </a:solidFill>
                <a:sym typeface="Roboto"/>
              </a:rPr>
              <a:t>eturn on marketing investment)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230F7BB-5552-C5BF-7550-2E2EE1F7B2D5}"/>
              </a:ext>
            </a:extLst>
          </p:cNvPr>
          <p:cNvSpPr/>
          <p:nvPr/>
        </p:nvSpPr>
        <p:spPr>
          <a:xfrm>
            <a:off x="6148868" y="1106370"/>
            <a:ext cx="2808000" cy="3198212"/>
          </a:xfrm>
          <a:prstGeom prst="roundRect">
            <a:avLst>
              <a:gd name="adj" fmla="val 6366"/>
            </a:avLst>
          </a:prstGeom>
          <a:solidFill>
            <a:srgbClr val="B8FF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251999" rtlCol="0" anchor="t" anchorCtr="0"/>
          <a:lstStyle/>
          <a:p>
            <a:pPr>
              <a:spcBef>
                <a:spcPts val="600"/>
              </a:spcBef>
            </a:pPr>
            <a:r>
              <a:rPr lang="ru" b="1" dirty="0">
                <a:solidFill>
                  <a:schemeClr val="tx1"/>
                </a:solidFill>
                <a:sym typeface="Roboto"/>
              </a:rPr>
              <a:t>ROAS</a:t>
            </a:r>
            <a:r>
              <a:rPr lang="en-US" b="1" dirty="0">
                <a:solidFill>
                  <a:schemeClr val="tx1"/>
                </a:solidFill>
                <a:sym typeface="Roboto"/>
              </a:rPr>
              <a:t> </a:t>
            </a:r>
            <a:r>
              <a:rPr lang="ru" dirty="0">
                <a:solidFill>
                  <a:schemeClr val="tx1"/>
                </a:solidFill>
                <a:sym typeface="Roboto"/>
              </a:rPr>
              <a:t>(</a:t>
            </a:r>
            <a:r>
              <a:rPr lang="en-US" dirty="0">
                <a:solidFill>
                  <a:schemeClr val="tx1"/>
                </a:solidFill>
                <a:sym typeface="Roboto"/>
              </a:rPr>
              <a:t>r</a:t>
            </a:r>
            <a:r>
              <a:rPr lang="ru" dirty="0">
                <a:solidFill>
                  <a:schemeClr val="tx1"/>
                </a:solidFill>
                <a:sym typeface="Roboto"/>
              </a:rPr>
              <a:t>eturn on </a:t>
            </a:r>
            <a:r>
              <a:rPr lang="en-US" dirty="0">
                <a:solidFill>
                  <a:schemeClr val="tx1"/>
                </a:solidFill>
                <a:sym typeface="Roboto"/>
              </a:rPr>
              <a:t>a</a:t>
            </a:r>
            <a:r>
              <a:rPr lang="ru" dirty="0">
                <a:solidFill>
                  <a:schemeClr val="tx1"/>
                </a:solidFill>
                <a:sym typeface="Roboto"/>
              </a:rPr>
              <a:t>d spent</a:t>
            </a:r>
            <a:r>
              <a:rPr lang="en-US" dirty="0">
                <a:solidFill>
                  <a:schemeClr val="tx1"/>
                </a:solidFill>
                <a:sym typeface="Roboto"/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90A1BA-2DC9-5AF7-A5DD-0EC21226FD71}"/>
              </a:ext>
            </a:extLst>
          </p:cNvPr>
          <p:cNvSpPr txBox="1"/>
          <p:nvPr/>
        </p:nvSpPr>
        <p:spPr>
          <a:xfrm>
            <a:off x="354176" y="3347659"/>
            <a:ext cx="247567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800"/>
              </a:spcBef>
            </a:pPr>
            <a:r>
              <a:rPr lang="ru-RU" sz="1400" dirty="0">
                <a:solidFill>
                  <a:schemeClr val="tx1"/>
                </a:solidFill>
                <a:sym typeface="Roboto"/>
              </a:rPr>
              <a:t>100% </a:t>
            </a:r>
            <a:r>
              <a:rPr lang="ru-RU" alt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 </a:t>
            </a:r>
            <a:r>
              <a:rPr lang="ru-RU" sz="1400" dirty="0">
                <a:solidFill>
                  <a:schemeClr val="tx1"/>
                </a:solidFill>
              </a:rPr>
              <a:t>(доход – затраты)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2D1CC3-ACE9-AF6F-2956-5D7C0C335108}"/>
              </a:ext>
            </a:extLst>
          </p:cNvPr>
          <p:cNvSpPr txBox="1"/>
          <p:nvPr/>
        </p:nvSpPr>
        <p:spPr>
          <a:xfrm>
            <a:off x="354176" y="3778981"/>
            <a:ext cx="247567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800"/>
              </a:spcBef>
            </a:pPr>
            <a:r>
              <a:rPr lang="ru-RU" sz="1400" dirty="0">
                <a:solidFill>
                  <a:schemeClr val="tx1"/>
                </a:solidFill>
                <a:sym typeface="Roboto"/>
              </a:rPr>
              <a:t>затраты</a:t>
            </a:r>
            <a:endParaRPr lang="ru-RU" sz="1400" dirty="0">
              <a:solidFill>
                <a:schemeClr val="tx1"/>
              </a:solidFill>
            </a:endParaRP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FB5C4A70-4B07-577D-3F03-1D75D5010474}"/>
              </a:ext>
            </a:extLst>
          </p:cNvPr>
          <p:cNvCxnSpPr>
            <a:cxnSpLocks/>
          </p:cNvCxnSpPr>
          <p:nvPr/>
        </p:nvCxnSpPr>
        <p:spPr>
          <a:xfrm>
            <a:off x="535332" y="3804861"/>
            <a:ext cx="2112978" cy="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0342B8C-04AD-1BB3-44A5-9D0BC38E5F1B}"/>
              </a:ext>
            </a:extLst>
          </p:cNvPr>
          <p:cNvSpPr txBox="1"/>
          <p:nvPr/>
        </p:nvSpPr>
        <p:spPr>
          <a:xfrm>
            <a:off x="3303918" y="3418275"/>
            <a:ext cx="25447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lang="ru-RU" sz="1400" dirty="0">
                <a:solidFill>
                  <a:schemeClr val="tx1"/>
                </a:solidFill>
                <a:sym typeface="Roboto"/>
              </a:rPr>
              <a:t>100% </a:t>
            </a:r>
            <a:r>
              <a:rPr lang="ru-RU" alt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 </a:t>
            </a:r>
            <a:r>
              <a:rPr lang="ru-RU" sz="1400" dirty="0">
                <a:solidFill>
                  <a:schemeClr val="tx1"/>
                </a:solidFill>
              </a:rPr>
              <a:t>(доход от рекламы – расход на рекламу) / расход на рекламу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AE3491-4B06-69C2-59D9-D1EDB1BDFFB8}"/>
              </a:ext>
            </a:extLst>
          </p:cNvPr>
          <p:cNvSpPr txBox="1"/>
          <p:nvPr/>
        </p:nvSpPr>
        <p:spPr>
          <a:xfrm>
            <a:off x="6209355" y="3646956"/>
            <a:ext cx="8130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ru-RU" sz="1400" dirty="0">
                <a:solidFill>
                  <a:schemeClr val="tx1"/>
                </a:solidFill>
                <a:sym typeface="Roboto"/>
              </a:rPr>
              <a:t>100% </a:t>
            </a:r>
            <a:r>
              <a:rPr lang="ru-RU" alt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3E081B-A427-1783-D2B2-654BA3DFC0DC}"/>
              </a:ext>
            </a:extLst>
          </p:cNvPr>
          <p:cNvSpPr txBox="1"/>
          <p:nvPr/>
        </p:nvSpPr>
        <p:spPr>
          <a:xfrm>
            <a:off x="6711850" y="3347659"/>
            <a:ext cx="247567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800"/>
              </a:spcBef>
            </a:pPr>
            <a:r>
              <a:rPr lang="ru-RU" sz="1400" dirty="0">
                <a:solidFill>
                  <a:schemeClr val="tx1"/>
                </a:solidFill>
                <a:sym typeface="Roboto"/>
              </a:rPr>
              <a:t>доход от рекламы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14180B-AA43-8D50-C833-E652BF925F25}"/>
              </a:ext>
            </a:extLst>
          </p:cNvPr>
          <p:cNvSpPr txBox="1"/>
          <p:nvPr/>
        </p:nvSpPr>
        <p:spPr>
          <a:xfrm>
            <a:off x="6711850" y="3778981"/>
            <a:ext cx="247567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800"/>
              </a:spcBef>
            </a:pPr>
            <a:r>
              <a:rPr lang="ru-RU" sz="1400" dirty="0">
                <a:solidFill>
                  <a:schemeClr val="tx1"/>
                </a:solidFill>
                <a:sym typeface="Roboto"/>
              </a:rPr>
              <a:t>маркетинг. бюджеты</a:t>
            </a:r>
            <a:endParaRPr lang="ru-RU" sz="1400" dirty="0">
              <a:solidFill>
                <a:schemeClr val="tx1"/>
              </a:solidFill>
            </a:endParaRP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E9B02243-71D3-8104-BF67-5B6DB376015D}"/>
              </a:ext>
            </a:extLst>
          </p:cNvPr>
          <p:cNvCxnSpPr>
            <a:cxnSpLocks/>
          </p:cNvCxnSpPr>
          <p:nvPr/>
        </p:nvCxnSpPr>
        <p:spPr>
          <a:xfrm>
            <a:off x="7022396" y="3804861"/>
            <a:ext cx="1862811" cy="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0;p14">
            <a:extLst>
              <a:ext uri="{FF2B5EF4-FFF2-40B4-BE49-F238E27FC236}">
                <a16:creationId xmlns:a16="http://schemas.microsoft.com/office/drawing/2014/main" id="{4EFCAF8F-64C7-649D-FCDB-E5F607F65EEE}"/>
              </a:ext>
            </a:extLst>
          </p:cNvPr>
          <p:cNvSpPr txBox="1">
            <a:spLocks/>
          </p:cNvSpPr>
          <p:nvPr/>
        </p:nvSpPr>
        <p:spPr>
          <a:xfrm>
            <a:off x="65988" y="242734"/>
            <a:ext cx="7042178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</a:pPr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Метрики бренда. Воронка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285D293D-AD0D-B56A-D230-83A072246A8A}"/>
              </a:ext>
            </a:extLst>
          </p:cNvPr>
          <p:cNvSpPr/>
          <p:nvPr/>
        </p:nvSpPr>
        <p:spPr>
          <a:xfrm>
            <a:off x="179388" y="1009290"/>
            <a:ext cx="1635010" cy="3605842"/>
          </a:xfrm>
          <a:prstGeom prst="roundRect">
            <a:avLst>
              <a:gd name="adj" fmla="val 9661"/>
            </a:avLst>
          </a:prstGeom>
          <a:solidFill>
            <a:srgbClr val="DCFF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108000" rtlCol="0" anchor="t" anchorCtr="0"/>
          <a:lstStyle/>
          <a:p>
            <a:pPr>
              <a:spcBef>
                <a:spcPts val="600"/>
              </a:spcBef>
            </a:pPr>
            <a:r>
              <a:rPr lang="ru-RU" b="1" dirty="0">
                <a:solidFill>
                  <a:schemeClr val="tx1"/>
                </a:solidFill>
                <a:sym typeface="Roboto"/>
              </a:rPr>
              <a:t>Знание с</a:t>
            </a:r>
            <a:r>
              <a:rPr lang="en-US" b="1" dirty="0">
                <a:solidFill>
                  <a:schemeClr val="tx1"/>
                </a:solidFill>
                <a:sym typeface="Roboto"/>
              </a:rPr>
              <a:t> </a:t>
            </a:r>
            <a:r>
              <a:rPr lang="ru-RU" b="1" dirty="0">
                <a:solidFill>
                  <a:schemeClr val="tx1"/>
                </a:solidFill>
                <a:sym typeface="Roboto"/>
              </a:rPr>
              <a:t>подсказкой </a:t>
            </a:r>
            <a:endParaRPr lang="en-US" b="1" dirty="0">
              <a:solidFill>
                <a:schemeClr val="tx1"/>
              </a:solidFill>
              <a:sym typeface="Roboto"/>
            </a:endParaRPr>
          </a:p>
          <a:p>
            <a:pPr>
              <a:spcBef>
                <a:spcPts val="600"/>
              </a:spcBef>
            </a:pPr>
            <a:r>
              <a:rPr lang="ru-RU" sz="1000" dirty="0">
                <a:solidFill>
                  <a:schemeClr val="tx1"/>
                </a:solidFill>
              </a:rPr>
              <a:t>Покупатель узнаёт бренд, только если ему показали несколько названий брендов или логотипов</a:t>
            </a:r>
            <a:endParaRPr lang="ru-RU" sz="1000" dirty="0">
              <a:solidFill>
                <a:schemeClr val="tx1"/>
              </a:solidFill>
              <a:sym typeface="Roboto"/>
            </a:endParaRPr>
          </a:p>
          <a:p>
            <a:pPr>
              <a:spcBef>
                <a:spcPts val="600"/>
              </a:spcBef>
            </a:pP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DAAE51C-2F44-2BCE-68A6-F36C10F7713E}"/>
              </a:ext>
            </a:extLst>
          </p:cNvPr>
          <p:cNvSpPr/>
          <p:nvPr/>
        </p:nvSpPr>
        <p:spPr>
          <a:xfrm>
            <a:off x="1970933" y="1009290"/>
            <a:ext cx="1635010" cy="3605842"/>
          </a:xfrm>
          <a:prstGeom prst="roundRect">
            <a:avLst>
              <a:gd name="adj" fmla="val 9661"/>
            </a:avLst>
          </a:prstGeom>
          <a:solidFill>
            <a:srgbClr val="0532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108000" rtlCol="0" anchor="t" anchorCtr="0"/>
          <a:lstStyle/>
          <a:p>
            <a:pPr>
              <a:spcBef>
                <a:spcPts val="600"/>
              </a:spcBef>
            </a:pPr>
            <a:r>
              <a:rPr lang="ru-RU" b="1" dirty="0">
                <a:solidFill>
                  <a:schemeClr val="bg1"/>
                </a:solidFill>
                <a:sym typeface="Roboto"/>
              </a:rPr>
              <a:t>Знание спонтанное </a:t>
            </a:r>
            <a:r>
              <a:rPr lang="ru-RU" dirty="0">
                <a:solidFill>
                  <a:schemeClr val="bg1"/>
                </a:solidFill>
                <a:sym typeface="Roboto"/>
              </a:rPr>
              <a:t>(без подсказки) </a:t>
            </a:r>
            <a:endParaRPr lang="en-US" dirty="0">
              <a:solidFill>
                <a:schemeClr val="bg1"/>
              </a:solidFill>
              <a:sym typeface="Roboto"/>
            </a:endParaRPr>
          </a:p>
          <a:p>
            <a:pPr>
              <a:spcBef>
                <a:spcPts val="600"/>
              </a:spcBef>
            </a:pPr>
            <a:r>
              <a:rPr lang="ru-RU" sz="1000" dirty="0">
                <a:solidFill>
                  <a:schemeClr val="bg1"/>
                </a:solidFill>
              </a:rPr>
              <a:t>Покупатель вспоминает название бренда или продукта без подсказок (</a:t>
            </a:r>
            <a:r>
              <a:rPr lang="en" sz="1000" dirty="0">
                <a:solidFill>
                  <a:schemeClr val="bg1"/>
                </a:solidFill>
                <a:sym typeface="Times New Roman"/>
              </a:rPr>
              <a:t>top-of-mind, BRAND RECALL, SPONTANEOUS RECALL)</a:t>
            </a:r>
            <a:endParaRPr lang="en" sz="1000" dirty="0">
              <a:solidFill>
                <a:schemeClr val="bg1"/>
              </a:solidFill>
              <a:sym typeface="Roboto"/>
            </a:endParaRPr>
          </a:p>
          <a:p>
            <a:pPr>
              <a:spcBef>
                <a:spcPts val="600"/>
              </a:spcBef>
            </a:pP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5006EDBC-228C-0102-6778-257EB506A49C}"/>
              </a:ext>
            </a:extLst>
          </p:cNvPr>
          <p:cNvSpPr/>
          <p:nvPr/>
        </p:nvSpPr>
        <p:spPr>
          <a:xfrm>
            <a:off x="3762479" y="1009290"/>
            <a:ext cx="1635010" cy="3605842"/>
          </a:xfrm>
          <a:prstGeom prst="roundRect">
            <a:avLst>
              <a:gd name="adj" fmla="val 9661"/>
            </a:avLst>
          </a:prstGeom>
          <a:solidFill>
            <a:srgbClr val="B4F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108000" rtlCol="0" anchor="t" anchorCtr="0"/>
          <a:lstStyle/>
          <a:p>
            <a:pPr>
              <a:spcBef>
                <a:spcPts val="600"/>
              </a:spcBef>
            </a:pPr>
            <a:r>
              <a:rPr lang="ru-RU" b="1" dirty="0">
                <a:solidFill>
                  <a:schemeClr val="tx1"/>
                </a:solidFill>
                <a:sym typeface="Roboto"/>
              </a:rPr>
              <a:t>Намерение покупки и</a:t>
            </a:r>
            <a:r>
              <a:rPr lang="en-US" b="1" dirty="0">
                <a:solidFill>
                  <a:schemeClr val="tx1"/>
                </a:solidFill>
                <a:sym typeface="Roboto"/>
              </a:rPr>
              <a:t> </a:t>
            </a:r>
            <a:r>
              <a:rPr lang="ru-RU" b="1" dirty="0">
                <a:solidFill>
                  <a:schemeClr val="tx1"/>
                </a:solidFill>
                <a:sym typeface="Roboto"/>
              </a:rPr>
              <a:t>покупка</a:t>
            </a:r>
            <a:endParaRPr lang="en-US" b="1" dirty="0">
              <a:solidFill>
                <a:schemeClr val="tx1"/>
              </a:solidFill>
              <a:sym typeface="Roboto"/>
            </a:endParaRPr>
          </a:p>
          <a:p>
            <a:pPr>
              <a:spcBef>
                <a:spcPts val="600"/>
              </a:spcBef>
            </a:pPr>
            <a:r>
              <a:rPr lang="ru-RU" sz="1000" dirty="0">
                <a:solidFill>
                  <a:schemeClr val="tx1"/>
                </a:solidFill>
                <a:sym typeface="Roboto"/>
              </a:rPr>
              <a:t>Потенциальный покупатель принимает решение об</a:t>
            </a:r>
            <a:r>
              <a:rPr lang="en-US" sz="1000" dirty="0">
                <a:solidFill>
                  <a:schemeClr val="tx1"/>
                </a:solidFill>
                <a:sym typeface="Roboto"/>
              </a:rPr>
              <a:t> </a:t>
            </a:r>
            <a:r>
              <a:rPr lang="ru-RU" sz="1000" dirty="0">
                <a:solidFill>
                  <a:schemeClr val="tx1"/>
                </a:solidFill>
                <a:sym typeface="Roboto"/>
              </a:rPr>
              <a:t>использовании продукта (</a:t>
            </a:r>
            <a:r>
              <a:rPr lang="en" sz="1000" dirty="0">
                <a:solidFill>
                  <a:schemeClr val="tx1"/>
                </a:solidFill>
                <a:sym typeface="Roboto"/>
              </a:rPr>
              <a:t>CR, DAU </a:t>
            </a:r>
            <a:r>
              <a:rPr lang="ru-RU" sz="1000" dirty="0">
                <a:solidFill>
                  <a:schemeClr val="tx1"/>
                </a:solidFill>
                <a:sym typeface="Roboto"/>
              </a:rPr>
              <a:t>посадочной страницы, метрики эффективности каналов привлечения) </a:t>
            </a:r>
          </a:p>
          <a:p>
            <a:pPr>
              <a:spcBef>
                <a:spcPts val="600"/>
              </a:spcBef>
            </a:pP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07312C46-F662-79EB-59C7-BD354A8B9078}"/>
              </a:ext>
            </a:extLst>
          </p:cNvPr>
          <p:cNvSpPr/>
          <p:nvPr/>
        </p:nvSpPr>
        <p:spPr>
          <a:xfrm>
            <a:off x="5554024" y="1009290"/>
            <a:ext cx="1635010" cy="3605842"/>
          </a:xfrm>
          <a:prstGeom prst="roundRect">
            <a:avLst>
              <a:gd name="adj" fmla="val 9661"/>
            </a:avLst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108000" rtlCol="0" anchor="t" anchorCtr="0"/>
          <a:lstStyle/>
          <a:p>
            <a:pPr>
              <a:spcBef>
                <a:spcPts val="600"/>
              </a:spcBef>
            </a:pPr>
            <a:r>
              <a:rPr lang="ru-RU" b="1" dirty="0">
                <a:solidFill>
                  <a:schemeClr val="tx1"/>
                </a:solidFill>
                <a:sym typeface="Roboto"/>
              </a:rPr>
              <a:t>Лояльность</a:t>
            </a:r>
            <a:endParaRPr lang="en-US" b="1" dirty="0">
              <a:solidFill>
                <a:schemeClr val="tx1"/>
              </a:solidFill>
              <a:sym typeface="Roboto"/>
            </a:endParaRPr>
          </a:p>
          <a:p>
            <a:pPr>
              <a:spcBef>
                <a:spcPts val="600"/>
              </a:spcBef>
            </a:pPr>
            <a:r>
              <a:rPr lang="ru-RU" sz="1000" dirty="0">
                <a:solidFill>
                  <a:schemeClr val="tx1"/>
                </a:solidFill>
                <a:sym typeface="Roboto"/>
              </a:rPr>
              <a:t>Клиент продолжает пользоваться продуктом (</a:t>
            </a:r>
            <a:r>
              <a:rPr lang="en" sz="1000" dirty="0">
                <a:solidFill>
                  <a:schemeClr val="tx1"/>
                </a:solidFill>
                <a:sym typeface="Roboto"/>
              </a:rPr>
              <a:t>Retention </a:t>
            </a:r>
            <a:r>
              <a:rPr lang="ru-RU" sz="1000" dirty="0">
                <a:solidFill>
                  <a:schemeClr val="tx1"/>
                </a:solidFill>
                <a:sym typeface="Roboto"/>
              </a:rPr>
              <a:t>и</a:t>
            </a:r>
            <a:r>
              <a:rPr lang="en-US" sz="1000" dirty="0">
                <a:solidFill>
                  <a:schemeClr val="tx1"/>
                </a:solidFill>
                <a:sym typeface="Roboto"/>
              </a:rPr>
              <a:t> </a:t>
            </a:r>
            <a:r>
              <a:rPr lang="en" sz="1000" dirty="0">
                <a:solidFill>
                  <a:schemeClr val="tx1"/>
                </a:solidFill>
                <a:sym typeface="Roboto"/>
              </a:rPr>
              <a:t>LTV) </a:t>
            </a:r>
          </a:p>
          <a:p>
            <a:pPr>
              <a:spcBef>
                <a:spcPts val="600"/>
              </a:spcBef>
            </a:pP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7FEFF27-F6F0-C080-E1C2-BF46F1587EEE}"/>
              </a:ext>
            </a:extLst>
          </p:cNvPr>
          <p:cNvSpPr/>
          <p:nvPr/>
        </p:nvSpPr>
        <p:spPr>
          <a:xfrm>
            <a:off x="7345569" y="1009290"/>
            <a:ext cx="1635010" cy="3605842"/>
          </a:xfrm>
          <a:prstGeom prst="roundRect">
            <a:avLst>
              <a:gd name="adj" fmla="val 9661"/>
            </a:avLst>
          </a:prstGeom>
          <a:solidFill>
            <a:srgbClr val="1418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Ins="108000" rtlCol="0" anchor="t" anchorCtr="0"/>
          <a:lstStyle/>
          <a:p>
            <a:pPr>
              <a:spcBef>
                <a:spcPts val="600"/>
              </a:spcBef>
            </a:pPr>
            <a:r>
              <a:rPr lang="ru" b="1" dirty="0">
                <a:solidFill>
                  <a:schemeClr val="bg1"/>
                </a:solidFill>
                <a:sym typeface="Roboto"/>
              </a:rPr>
              <a:t>Адвокация</a:t>
            </a:r>
            <a:endParaRPr lang="en-US" b="1" dirty="0">
              <a:solidFill>
                <a:schemeClr val="bg1"/>
              </a:solidFill>
              <a:sym typeface="Roboto"/>
            </a:endParaRPr>
          </a:p>
          <a:p>
            <a:pPr>
              <a:spcBef>
                <a:spcPts val="600"/>
              </a:spcBef>
            </a:pPr>
            <a:r>
              <a:rPr lang="ru" sz="1000" dirty="0">
                <a:solidFill>
                  <a:schemeClr val="bg1"/>
                </a:solidFill>
                <a:sym typeface="Roboto"/>
              </a:rPr>
              <a:t>Клиенты готовы рекомендовать продукт друзьям и знакомым (NPS — net </a:t>
            </a:r>
            <a:r>
              <a:rPr lang="en-US" sz="1000" dirty="0">
                <a:solidFill>
                  <a:schemeClr val="bg1"/>
                </a:solidFill>
                <a:sym typeface="Roboto"/>
              </a:rPr>
              <a:t>promoter score</a:t>
            </a:r>
            <a:endParaRPr lang="ru-RU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223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2189559"/>
            <a:ext cx="844783" cy="269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 err="1">
                <a:solidFill>
                  <a:srgbClr val="B2B2B2"/>
                </a:solidFill>
              </a:rPr>
              <a:t>Лекция</a:t>
            </a:r>
            <a:r>
              <a:rPr lang="en-US" sz="1704" dirty="0">
                <a:solidFill>
                  <a:srgbClr val="B2B2B2"/>
                </a:solidFill>
              </a:rPr>
              <a:t> </a:t>
            </a:r>
            <a:r>
              <a:rPr lang="ru-RU" sz="1704" dirty="0">
                <a:solidFill>
                  <a:srgbClr val="B2B2B2"/>
                </a:solidFill>
              </a:rPr>
              <a:t>2</a:t>
            </a:r>
            <a:endParaRPr lang="en-US" sz="1704" dirty="0"/>
          </a:p>
        </p:txBody>
      </p:sp>
      <p:sp>
        <p:nvSpPr>
          <p:cNvPr id="6" name="Text 2"/>
          <p:cNvSpPr/>
          <p:nvPr/>
        </p:nvSpPr>
        <p:spPr>
          <a:xfrm>
            <a:off x="571500" y="2644973"/>
            <a:ext cx="6429375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FFFFFF"/>
                </a:solidFill>
              </a:rPr>
              <a:t>ЦЕЛИ И МЕТРИКИ
ПРОДУКТА</a:t>
            </a:r>
            <a:endParaRPr lang="en-US" sz="4145" dirty="0"/>
          </a:p>
        </p:txBody>
      </p:sp>
      <p:sp>
        <p:nvSpPr>
          <p:cNvPr id="7" name="Text 3"/>
          <p:cNvSpPr/>
          <p:nvPr/>
        </p:nvSpPr>
        <p:spPr>
          <a:xfrm>
            <a:off x="571500" y="4116586"/>
            <a:ext cx="64293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32CD32"/>
                </a:solidFill>
              </a:rPr>
              <a:t>Садчиков Кирилл (@Kirish_molodez)</a:t>
            </a:r>
            <a:endParaRPr lang="en-US" sz="170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X5 Digital</a:t>
            </a:r>
            <a:endParaRPr lang="en-US" sz="1193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785813"/>
            <a:ext cx="2857500" cy="357187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857625" y="1294637"/>
            <a:ext cx="307767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6800"/>
              </a:lnSpc>
              <a:buNone/>
            </a:pPr>
            <a:r>
              <a:rPr lang="en-US" sz="6615" dirty="0">
                <a:solidFill>
                  <a:srgbClr val="CCFF00"/>
                </a:solidFill>
              </a:rPr>
              <a:t>“</a:t>
            </a:r>
            <a:endParaRPr lang="en-US" sz="6615" dirty="0"/>
          </a:p>
        </p:txBody>
      </p:sp>
      <p:sp>
        <p:nvSpPr>
          <p:cNvPr id="7" name="Text 2"/>
          <p:cNvSpPr/>
          <p:nvPr/>
        </p:nvSpPr>
        <p:spPr>
          <a:xfrm>
            <a:off x="4000500" y="1723262"/>
            <a:ext cx="4429125" cy="1170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121" b="1" dirty="0">
                <a:solidFill>
                  <a:srgbClr val="000000"/>
                </a:solidFill>
              </a:rPr>
              <a:t>Если вы не можете измерить это, вы не можете улучшить это</a:t>
            </a:r>
            <a:endParaRPr lang="en-US" sz="2121" dirty="0"/>
          </a:p>
        </p:txBody>
      </p:sp>
      <p:sp>
        <p:nvSpPr>
          <p:cNvPr id="8" name="Text 3"/>
          <p:cNvSpPr/>
          <p:nvPr/>
        </p:nvSpPr>
        <p:spPr>
          <a:xfrm>
            <a:off x="4000500" y="3107671"/>
            <a:ext cx="44291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04" i="1" dirty="0">
                <a:solidFill>
                  <a:srgbClr val="333333"/>
                </a:solidFill>
              </a:rPr>
              <a:t>Питер Друкер</a:t>
            </a:r>
            <a:endParaRPr lang="en-US" sz="1704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Цели продукта?</a:t>
            </a:r>
            <a:endParaRPr lang="en-US" sz="3294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7526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Цели продукта?</a:t>
            </a:r>
            <a:endParaRPr lang="en-US" sz="3294" dirty="0"/>
          </a:p>
        </p:txBody>
      </p:sp>
      <p:sp>
        <p:nvSpPr>
          <p:cNvPr id="6" name="Shape 2"/>
          <p:cNvSpPr/>
          <p:nvPr/>
        </p:nvSpPr>
        <p:spPr>
          <a:xfrm>
            <a:off x="571500" y="1480542"/>
            <a:ext cx="2143125" cy="2143125"/>
          </a:xfrm>
          <a:prstGeom prst="rect">
            <a:avLst/>
          </a:prstGeom>
          <a:solidFill>
            <a:srgbClr val="006400"/>
          </a:solidFill>
          <a:ln w="18288">
            <a:solidFill>
              <a:srgbClr val="32CD3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85813" y="1694855"/>
            <a:ext cx="171450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Улучшение пользовательского опыта</a:t>
            </a:r>
            <a:endParaRPr lang="en-US" sz="1397" dirty="0"/>
          </a:p>
        </p:txBody>
      </p:sp>
      <p:sp>
        <p:nvSpPr>
          <p:cNvPr id="8" name="Text 4"/>
          <p:cNvSpPr/>
          <p:nvPr/>
        </p:nvSpPr>
        <p:spPr>
          <a:xfrm>
            <a:off x="2165393" y="2837855"/>
            <a:ext cx="33491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FFFFFF"/>
                </a:solidFill>
              </a:rPr>
              <a:t>1</a:t>
            </a:r>
            <a:endParaRPr lang="en-US" sz="4145" dirty="0"/>
          </a:p>
        </p:txBody>
      </p:sp>
      <p:sp>
        <p:nvSpPr>
          <p:cNvPr id="9" name="Text 5"/>
          <p:cNvSpPr/>
          <p:nvPr/>
        </p:nvSpPr>
        <p:spPr>
          <a:xfrm>
            <a:off x="571500" y="3766542"/>
            <a:ext cx="2143125" cy="1080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B2B2B2"/>
                </a:solidFill>
              </a:rPr>
              <a:t>Создание интуитивного, удобного и приятного взаимодействия с продуктом. Продуктовая команда работает над снижением трения в пользовательских сценариях.</a:t>
            </a:r>
            <a:endParaRPr lang="en-US" sz="942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8001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Цели продукта?</a:t>
            </a:r>
            <a:endParaRPr lang="en-US" sz="3294" dirty="0"/>
          </a:p>
        </p:txBody>
      </p:sp>
      <p:sp>
        <p:nvSpPr>
          <p:cNvPr id="6" name="Shape 2"/>
          <p:cNvSpPr/>
          <p:nvPr/>
        </p:nvSpPr>
        <p:spPr>
          <a:xfrm>
            <a:off x="571500" y="1360159"/>
            <a:ext cx="2286000" cy="1571625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7" name="Text 3"/>
          <p:cNvSpPr/>
          <p:nvPr/>
        </p:nvSpPr>
        <p:spPr>
          <a:xfrm>
            <a:off x="714375" y="1503034"/>
            <a:ext cx="20002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Улучшение пользовательского опыта</a:t>
            </a:r>
            <a:endParaRPr lang="en-US" sz="1602" dirty="0"/>
          </a:p>
        </p:txBody>
      </p:sp>
      <p:sp>
        <p:nvSpPr>
          <p:cNvPr id="8" name="Text 4"/>
          <p:cNvSpPr/>
          <p:nvPr/>
        </p:nvSpPr>
        <p:spPr>
          <a:xfrm>
            <a:off x="2312733" y="2325960"/>
            <a:ext cx="401892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4974" b="1" dirty="0">
                <a:solidFill>
                  <a:srgbClr val="FFFFFF">
                    <a:alpha val="80000"/>
                  </a:srgbClr>
                </a:solidFill>
              </a:rPr>
              <a:t>1</a:t>
            </a:r>
            <a:endParaRPr lang="en-US" sz="4974" dirty="0"/>
          </a:p>
        </p:txBody>
      </p:sp>
      <p:sp>
        <p:nvSpPr>
          <p:cNvPr id="9" name="Shape 5"/>
          <p:cNvSpPr/>
          <p:nvPr/>
        </p:nvSpPr>
        <p:spPr>
          <a:xfrm>
            <a:off x="3071813" y="1360159"/>
            <a:ext cx="2286000" cy="1571625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10" name="Text 6"/>
          <p:cNvSpPr/>
          <p:nvPr/>
        </p:nvSpPr>
        <p:spPr>
          <a:xfrm>
            <a:off x="3214688" y="1503034"/>
            <a:ext cx="200025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Рост вовлеченности</a:t>
            </a:r>
            <a:endParaRPr lang="en-US" sz="1602" dirty="0"/>
          </a:p>
        </p:txBody>
      </p:sp>
      <p:sp>
        <p:nvSpPr>
          <p:cNvPr id="11" name="Text 7"/>
          <p:cNvSpPr/>
          <p:nvPr/>
        </p:nvSpPr>
        <p:spPr>
          <a:xfrm>
            <a:off x="4813046" y="2240291"/>
            <a:ext cx="401892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4974" b="1" dirty="0">
                <a:solidFill>
                  <a:srgbClr val="000000">
                    <a:alpha val="80000"/>
                  </a:srgbClr>
                </a:solidFill>
              </a:rPr>
              <a:t>2</a:t>
            </a:r>
            <a:endParaRPr lang="en-US" sz="4974" dirty="0"/>
          </a:p>
        </p:txBody>
      </p:sp>
      <p:sp>
        <p:nvSpPr>
          <p:cNvPr id="12" name="Text 8"/>
          <p:cNvSpPr/>
          <p:nvPr/>
        </p:nvSpPr>
        <p:spPr>
          <a:xfrm>
            <a:off x="2714625" y="3003221"/>
            <a:ext cx="3571875" cy="15430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B2B2B2"/>
                </a:solidFill>
              </a:rPr>
              <a:t>Увеличение частоты использования продукта и глубины взаимодействия пользователей с ключевыми функциями. Цель — превратить случайных пользователей в активных и лояльных.</a:t>
            </a:r>
            <a:endParaRPr lang="en-US" sz="1269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Цели продукта?</a:t>
            </a:r>
            <a:endParaRPr lang="en-US" sz="3294" dirty="0"/>
          </a:p>
        </p:txBody>
      </p:sp>
      <p:sp>
        <p:nvSpPr>
          <p:cNvPr id="6" name="Shape 2"/>
          <p:cNvSpPr/>
          <p:nvPr/>
        </p:nvSpPr>
        <p:spPr>
          <a:xfrm>
            <a:off x="571500" y="1480542"/>
            <a:ext cx="2286000" cy="2286000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7" name="Text 3"/>
          <p:cNvSpPr/>
          <p:nvPr/>
        </p:nvSpPr>
        <p:spPr>
          <a:xfrm>
            <a:off x="785813" y="1694855"/>
            <a:ext cx="1857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Улучшение пользовательского опыта</a:t>
            </a:r>
            <a:endParaRPr lang="en-US" sz="1602" dirty="0"/>
          </a:p>
        </p:txBody>
      </p:sp>
      <p:sp>
        <p:nvSpPr>
          <p:cNvPr id="8" name="Text 4"/>
          <p:cNvSpPr/>
          <p:nvPr/>
        </p:nvSpPr>
        <p:spPr>
          <a:xfrm>
            <a:off x="2140837" y="2866430"/>
            <a:ext cx="50235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dirty="0">
                <a:solidFill>
                  <a:srgbClr val="FFFFFF"/>
                </a:solidFill>
              </a:rPr>
              <a:t>1</a:t>
            </a:r>
            <a:endParaRPr lang="en-US" sz="6218" dirty="0"/>
          </a:p>
        </p:txBody>
      </p:sp>
      <p:sp>
        <p:nvSpPr>
          <p:cNvPr id="9" name="Shape 5"/>
          <p:cNvSpPr/>
          <p:nvPr/>
        </p:nvSpPr>
        <p:spPr>
          <a:xfrm>
            <a:off x="3071813" y="1480542"/>
            <a:ext cx="2286000" cy="2286000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10" name="Text 6"/>
          <p:cNvSpPr/>
          <p:nvPr/>
        </p:nvSpPr>
        <p:spPr>
          <a:xfrm>
            <a:off x="3286125" y="1694855"/>
            <a:ext cx="185737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Рост вовлеченности</a:t>
            </a:r>
            <a:endParaRPr lang="en-US" sz="1602" dirty="0"/>
          </a:p>
        </p:txBody>
      </p:sp>
      <p:sp>
        <p:nvSpPr>
          <p:cNvPr id="11" name="Text 7"/>
          <p:cNvSpPr/>
          <p:nvPr/>
        </p:nvSpPr>
        <p:spPr>
          <a:xfrm>
            <a:off x="4641149" y="2866430"/>
            <a:ext cx="50235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dirty="0">
                <a:solidFill>
                  <a:srgbClr val="000000"/>
                </a:solidFill>
              </a:rPr>
              <a:t>2</a:t>
            </a:r>
            <a:endParaRPr lang="en-US" sz="6218" dirty="0"/>
          </a:p>
        </p:txBody>
      </p:sp>
      <p:sp>
        <p:nvSpPr>
          <p:cNvPr id="12" name="Shape 8"/>
          <p:cNvSpPr/>
          <p:nvPr/>
        </p:nvSpPr>
        <p:spPr>
          <a:xfrm>
            <a:off x="5572125" y="1480542"/>
            <a:ext cx="2286000" cy="2286000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13" name="Text 9"/>
          <p:cNvSpPr/>
          <p:nvPr/>
        </p:nvSpPr>
        <p:spPr>
          <a:xfrm>
            <a:off x="5786438" y="1694855"/>
            <a:ext cx="185737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Монетизация</a:t>
            </a:r>
            <a:endParaRPr lang="en-US" sz="1602" dirty="0"/>
          </a:p>
        </p:txBody>
      </p:sp>
      <p:sp>
        <p:nvSpPr>
          <p:cNvPr id="14" name="Text 10"/>
          <p:cNvSpPr/>
          <p:nvPr/>
        </p:nvSpPr>
        <p:spPr>
          <a:xfrm>
            <a:off x="7141462" y="2866430"/>
            <a:ext cx="50235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dirty="0">
                <a:solidFill>
                  <a:srgbClr val="000000"/>
                </a:solidFill>
              </a:rPr>
              <a:t>3</a:t>
            </a:r>
            <a:endParaRPr lang="en-US" sz="6218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1" y="102859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8001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Цели продукта?</a:t>
            </a:r>
            <a:endParaRPr lang="en-US" sz="3294" dirty="0"/>
          </a:p>
        </p:txBody>
      </p:sp>
      <p:sp>
        <p:nvSpPr>
          <p:cNvPr id="6" name="Shape 2"/>
          <p:cNvSpPr/>
          <p:nvPr/>
        </p:nvSpPr>
        <p:spPr>
          <a:xfrm>
            <a:off x="571500" y="1102984"/>
            <a:ext cx="2315803" cy="1571625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7" name="Text 3"/>
          <p:cNvSpPr/>
          <p:nvPr/>
        </p:nvSpPr>
        <p:spPr>
          <a:xfrm>
            <a:off x="714375" y="1245859"/>
            <a:ext cx="1624031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Улучшение пользовательского опыта</a:t>
            </a:r>
            <a:endParaRPr lang="en-US" sz="1397" dirty="0"/>
          </a:p>
        </p:txBody>
      </p:sp>
      <p:sp>
        <p:nvSpPr>
          <p:cNvPr id="8" name="Text 4"/>
          <p:cNvSpPr/>
          <p:nvPr/>
        </p:nvSpPr>
        <p:spPr>
          <a:xfrm>
            <a:off x="2405044" y="1979879"/>
            <a:ext cx="267946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>
                    <a:alpha val="80000"/>
                  </a:srgbClr>
                </a:solidFill>
              </a:rPr>
              <a:t>1</a:t>
            </a:r>
            <a:endParaRPr lang="en-US" sz="3294" dirty="0"/>
          </a:p>
        </p:txBody>
      </p:sp>
      <p:sp>
        <p:nvSpPr>
          <p:cNvPr id="9" name="Shape 5"/>
          <p:cNvSpPr/>
          <p:nvPr/>
        </p:nvSpPr>
        <p:spPr>
          <a:xfrm>
            <a:off x="3030178" y="1102984"/>
            <a:ext cx="1903949" cy="1571625"/>
          </a:xfrm>
          <a:prstGeom prst="rect">
            <a:avLst/>
          </a:prstGeom>
          <a:solidFill>
            <a:srgbClr val="90EE90"/>
          </a:solidFill>
          <a:ln/>
        </p:spPr>
      </p:sp>
      <p:sp>
        <p:nvSpPr>
          <p:cNvPr id="10" name="Text 6"/>
          <p:cNvSpPr/>
          <p:nvPr/>
        </p:nvSpPr>
        <p:spPr>
          <a:xfrm>
            <a:off x="3173053" y="1245859"/>
            <a:ext cx="129455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Рост вовлеченности</a:t>
            </a:r>
            <a:endParaRPr lang="en-US" sz="1397" dirty="0"/>
          </a:p>
        </p:txBody>
      </p:sp>
      <p:sp>
        <p:nvSpPr>
          <p:cNvPr id="11" name="Text 7"/>
          <p:cNvSpPr/>
          <p:nvPr/>
        </p:nvSpPr>
        <p:spPr>
          <a:xfrm>
            <a:off x="4451868" y="1979879"/>
            <a:ext cx="267946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000000">
                    <a:alpha val="80000"/>
                  </a:srgbClr>
                </a:solidFill>
              </a:rPr>
              <a:t>2</a:t>
            </a:r>
            <a:endParaRPr lang="en-US" sz="3294" dirty="0"/>
          </a:p>
        </p:txBody>
      </p:sp>
      <p:sp>
        <p:nvSpPr>
          <p:cNvPr id="12" name="Shape 8"/>
          <p:cNvSpPr/>
          <p:nvPr/>
        </p:nvSpPr>
        <p:spPr>
          <a:xfrm>
            <a:off x="5077002" y="1102984"/>
            <a:ext cx="1735541" cy="1571625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13" name="Text 9"/>
          <p:cNvSpPr/>
          <p:nvPr/>
        </p:nvSpPr>
        <p:spPr>
          <a:xfrm>
            <a:off x="5219877" y="1245859"/>
            <a:ext cx="1159827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Монетизация</a:t>
            </a:r>
            <a:endParaRPr lang="en-US" sz="1397" dirty="0"/>
          </a:p>
        </p:txBody>
      </p:sp>
      <p:sp>
        <p:nvSpPr>
          <p:cNvPr id="14" name="Text 10"/>
          <p:cNvSpPr/>
          <p:nvPr/>
        </p:nvSpPr>
        <p:spPr>
          <a:xfrm>
            <a:off x="6330283" y="1979879"/>
            <a:ext cx="267946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000000">
                    <a:alpha val="80000"/>
                  </a:srgbClr>
                </a:solidFill>
              </a:rPr>
              <a:t>3</a:t>
            </a:r>
            <a:endParaRPr lang="en-US" sz="3294" dirty="0"/>
          </a:p>
        </p:txBody>
      </p:sp>
      <p:sp>
        <p:nvSpPr>
          <p:cNvPr id="15" name="Shape 11"/>
          <p:cNvSpPr/>
          <p:nvPr/>
        </p:nvSpPr>
        <p:spPr>
          <a:xfrm>
            <a:off x="571500" y="2720150"/>
            <a:ext cx="3000375" cy="2000250"/>
          </a:xfrm>
          <a:prstGeom prst="rect">
            <a:avLst/>
          </a:prstGeom>
          <a:solidFill>
            <a:srgbClr val="111111"/>
          </a:solidFill>
          <a:ln w="27432">
            <a:solidFill>
              <a:srgbClr val="32CD3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02304" y="2746809"/>
            <a:ext cx="21717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Удержание пользователей</a:t>
            </a:r>
            <a:endParaRPr lang="en-US" sz="2121" dirty="0"/>
          </a:p>
        </p:txBody>
      </p:sp>
      <p:sp>
        <p:nvSpPr>
          <p:cNvPr id="17" name="Text 13"/>
          <p:cNvSpPr/>
          <p:nvPr/>
        </p:nvSpPr>
        <p:spPr>
          <a:xfrm>
            <a:off x="702304" y="3480066"/>
            <a:ext cx="2845887" cy="944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900" dirty="0">
                <a:solidFill>
                  <a:srgbClr val="B2B2B2"/>
                </a:solidFill>
              </a:rPr>
              <a:t>Снижение оттока пользователей (churn rate) через улучшение продукта, персонализацию и создание привычек использования. Удержание существующих пользователей дешевле привлечения новых.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473533" y="2408504"/>
            <a:ext cx="267946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32CD32">
                    <a:alpha val="80000"/>
                  </a:srgbClr>
                </a:solidFill>
              </a:rPr>
              <a:t>4</a:t>
            </a:r>
            <a:endParaRPr lang="en-US" sz="3294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8001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Цели продукта?</a:t>
            </a:r>
            <a:endParaRPr lang="en-US" sz="3294" dirty="0"/>
          </a:p>
        </p:txBody>
      </p:sp>
      <p:sp>
        <p:nvSpPr>
          <p:cNvPr id="6" name="Shape 2"/>
          <p:cNvSpPr/>
          <p:nvPr/>
        </p:nvSpPr>
        <p:spPr>
          <a:xfrm>
            <a:off x="571500" y="1217284"/>
            <a:ext cx="2571750" cy="1321594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7" name="Text 3"/>
          <p:cNvSpPr/>
          <p:nvPr/>
        </p:nvSpPr>
        <p:spPr>
          <a:xfrm>
            <a:off x="700088" y="1345871"/>
            <a:ext cx="208310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Улучшение пользовательского опыта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2732429" y="2010240"/>
            <a:ext cx="26794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FFFFFF">
                    <a:alpha val="80000"/>
                  </a:srgbClr>
                </a:solidFill>
              </a:rPr>
              <a:t>1</a:t>
            </a:r>
            <a:endParaRPr lang="en-US" sz="3294" dirty="0"/>
          </a:p>
        </p:txBody>
      </p:sp>
      <p:sp>
        <p:nvSpPr>
          <p:cNvPr id="9" name="Shape 5"/>
          <p:cNvSpPr/>
          <p:nvPr/>
        </p:nvSpPr>
        <p:spPr>
          <a:xfrm>
            <a:off x="3286125" y="1217284"/>
            <a:ext cx="2571750" cy="1321594"/>
          </a:xfrm>
          <a:prstGeom prst="rect">
            <a:avLst/>
          </a:prstGeom>
          <a:solidFill>
            <a:srgbClr val="90EE90"/>
          </a:solidFill>
          <a:ln/>
        </p:spPr>
      </p:sp>
      <p:sp>
        <p:nvSpPr>
          <p:cNvPr id="10" name="Text 6"/>
          <p:cNvSpPr/>
          <p:nvPr/>
        </p:nvSpPr>
        <p:spPr>
          <a:xfrm>
            <a:off x="3414713" y="1345871"/>
            <a:ext cx="208310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Рост вовлеченности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5447054" y="2010240"/>
            <a:ext cx="26794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0000">
                    <a:alpha val="80000"/>
                  </a:srgbClr>
                </a:solidFill>
              </a:rPr>
              <a:t>2</a:t>
            </a:r>
            <a:endParaRPr lang="en-US" sz="3294" dirty="0"/>
          </a:p>
        </p:txBody>
      </p:sp>
      <p:sp>
        <p:nvSpPr>
          <p:cNvPr id="12" name="Shape 8"/>
          <p:cNvSpPr/>
          <p:nvPr/>
        </p:nvSpPr>
        <p:spPr>
          <a:xfrm>
            <a:off x="6000750" y="1217284"/>
            <a:ext cx="2571750" cy="1321594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13" name="Text 9"/>
          <p:cNvSpPr/>
          <p:nvPr/>
        </p:nvSpPr>
        <p:spPr>
          <a:xfrm>
            <a:off x="6129338" y="1345871"/>
            <a:ext cx="208310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Монетизация</a:t>
            </a:r>
            <a:endParaRPr lang="en-US" sz="1193" dirty="0"/>
          </a:p>
        </p:txBody>
      </p:sp>
      <p:sp>
        <p:nvSpPr>
          <p:cNvPr id="14" name="Text 10"/>
          <p:cNvSpPr/>
          <p:nvPr/>
        </p:nvSpPr>
        <p:spPr>
          <a:xfrm>
            <a:off x="8161679" y="2010240"/>
            <a:ext cx="26794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0000">
                    <a:alpha val="80000"/>
                  </a:srgbClr>
                </a:solidFill>
              </a:rPr>
              <a:t>3</a:t>
            </a:r>
            <a:endParaRPr lang="en-US" sz="3294" dirty="0"/>
          </a:p>
        </p:txBody>
      </p:sp>
      <p:sp>
        <p:nvSpPr>
          <p:cNvPr id="15" name="Shape 11"/>
          <p:cNvSpPr/>
          <p:nvPr/>
        </p:nvSpPr>
        <p:spPr>
          <a:xfrm>
            <a:off x="571500" y="2610315"/>
            <a:ext cx="2714625" cy="1893094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00088" y="2738903"/>
            <a:ext cx="220312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Удержание пользователей</a:t>
            </a:r>
            <a:endParaRPr lang="en-US" sz="1193" dirty="0"/>
          </a:p>
        </p:txBody>
      </p:sp>
      <p:sp>
        <p:nvSpPr>
          <p:cNvPr id="17" name="Text 13"/>
          <p:cNvSpPr/>
          <p:nvPr/>
        </p:nvSpPr>
        <p:spPr>
          <a:xfrm>
            <a:off x="2865788" y="3974771"/>
            <a:ext cx="26794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FFFFFF">
                    <a:alpha val="80000"/>
                  </a:srgbClr>
                </a:solidFill>
              </a:rPr>
              <a:t>4</a:t>
            </a:r>
            <a:endParaRPr lang="en-US" sz="3294" dirty="0"/>
          </a:p>
        </p:txBody>
      </p:sp>
      <p:sp>
        <p:nvSpPr>
          <p:cNvPr id="18" name="Shape 14"/>
          <p:cNvSpPr/>
          <p:nvPr/>
        </p:nvSpPr>
        <p:spPr>
          <a:xfrm>
            <a:off x="3419484" y="2610315"/>
            <a:ext cx="5153016" cy="1893094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19" name="Text 15"/>
          <p:cNvSpPr/>
          <p:nvPr/>
        </p:nvSpPr>
        <p:spPr>
          <a:xfrm>
            <a:off x="3548072" y="2738903"/>
            <a:ext cx="4406243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0000"/>
                </a:solidFill>
              </a:rPr>
              <a:t>Масштабирование</a:t>
            </a:r>
            <a:endParaRPr lang="en-US" sz="2121" dirty="0"/>
          </a:p>
        </p:txBody>
      </p:sp>
      <p:sp>
        <p:nvSpPr>
          <p:cNvPr id="20" name="Text 16"/>
          <p:cNvSpPr/>
          <p:nvPr/>
        </p:nvSpPr>
        <p:spPr>
          <a:xfrm>
            <a:off x="3548072" y="3414768"/>
            <a:ext cx="4161458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Расширение продукта на новые рынки, сегменты или платформы. Обеспечение технической и операционной готовности к росту пользовательской базы.</a:t>
            </a:r>
            <a:endParaRPr lang="en-US" sz="1269" dirty="0"/>
          </a:p>
        </p:txBody>
      </p:sp>
      <p:sp>
        <p:nvSpPr>
          <p:cNvPr id="21" name="Text 17"/>
          <p:cNvSpPr/>
          <p:nvPr/>
        </p:nvSpPr>
        <p:spPr>
          <a:xfrm>
            <a:off x="7956296" y="3674734"/>
            <a:ext cx="40189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974" b="1" dirty="0">
                <a:solidFill>
                  <a:srgbClr val="000000">
                    <a:alpha val="80000"/>
                  </a:srgbClr>
                </a:solidFill>
              </a:rPr>
              <a:t>5</a:t>
            </a:r>
            <a:endParaRPr lang="en-US" sz="4974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6429375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FFFFFF"/>
                </a:solidFill>
              </a:rPr>
              <a:t>Как мы измеряем успех продукта?</a:t>
            </a:r>
            <a:endParaRPr lang="en-US" sz="2862" dirty="0"/>
          </a:p>
        </p:txBody>
      </p:sp>
      <p:sp>
        <p:nvSpPr>
          <p:cNvPr id="6" name="Text 2"/>
          <p:cNvSpPr/>
          <p:nvPr/>
        </p:nvSpPr>
        <p:spPr>
          <a:xfrm>
            <a:off x="571500" y="1451577"/>
            <a:ext cx="571500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B2B2B2"/>
                </a:solidFill>
              </a:rPr>
              <a:t>Продуктовые метрики помогают команде понять, насколько эффективно продукт решает задачи пользователей и бизнеса. Они делятся на 4 ключевые категории:</a:t>
            </a:r>
            <a:endParaRPr lang="en-US" sz="1269" dirty="0"/>
          </a:p>
        </p:txBody>
      </p:sp>
      <p:sp>
        <p:nvSpPr>
          <p:cNvPr id="7" name="Shape 3"/>
          <p:cNvSpPr/>
          <p:nvPr/>
        </p:nvSpPr>
        <p:spPr>
          <a:xfrm>
            <a:off x="571500" y="2528804"/>
            <a:ext cx="3929063" cy="1028728"/>
          </a:xfrm>
          <a:prstGeom prst="rect">
            <a:avLst/>
          </a:prstGeom>
          <a:solidFill>
            <a:srgbClr val="32CD32">
              <a:alpha val="10000"/>
            </a:srgbClr>
          </a:solidFill>
          <a:ln w="18288">
            <a:solidFill>
              <a:srgbClr val="32CD32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3" y="2871704"/>
            <a:ext cx="342900" cy="342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71625" y="2781514"/>
            <a:ext cx="203753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Вовлеченность</a:t>
            </a:r>
            <a:endParaRPr lang="en-US" sz="1602" dirty="0"/>
          </a:p>
        </p:txBody>
      </p:sp>
      <p:sp>
        <p:nvSpPr>
          <p:cNvPr id="10" name="Text 5"/>
          <p:cNvSpPr/>
          <p:nvPr/>
        </p:nvSpPr>
        <p:spPr>
          <a:xfrm>
            <a:off x="1571625" y="3129772"/>
            <a:ext cx="20375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88888"/>
                </a:solidFill>
              </a:rPr>
              <a:t>ENGAGEMENT</a:t>
            </a:r>
            <a:endParaRPr lang="en-US" sz="942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4906" y="2871704"/>
            <a:ext cx="385763" cy="3429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657850" y="2781514"/>
            <a:ext cx="60350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Рост</a:t>
            </a:r>
            <a:endParaRPr lang="en-US" sz="1602" dirty="0"/>
          </a:p>
        </p:txBody>
      </p:sp>
      <p:sp>
        <p:nvSpPr>
          <p:cNvPr id="13" name="Text 7"/>
          <p:cNvSpPr/>
          <p:nvPr/>
        </p:nvSpPr>
        <p:spPr>
          <a:xfrm>
            <a:off x="5657850" y="3129772"/>
            <a:ext cx="60350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88888"/>
                </a:solidFill>
              </a:rPr>
              <a:t>GROWTH</a:t>
            </a:r>
            <a:endParaRPr lang="en-US" sz="942" dirty="0"/>
          </a:p>
        </p:txBody>
      </p:sp>
      <p:sp>
        <p:nvSpPr>
          <p:cNvPr id="14" name="Shape 8"/>
          <p:cNvSpPr/>
          <p:nvPr/>
        </p:nvSpPr>
        <p:spPr>
          <a:xfrm>
            <a:off x="571500" y="3700407"/>
            <a:ext cx="3929063" cy="1028756"/>
          </a:xfrm>
          <a:prstGeom prst="rect">
            <a:avLst/>
          </a:prstGeom>
          <a:solidFill>
            <a:srgbClr val="006400">
              <a:alpha val="20000"/>
            </a:srgbClr>
          </a:solidFill>
          <a:ln w="18288">
            <a:solidFill>
              <a:srgbClr val="006400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113" y="4043335"/>
            <a:ext cx="342900" cy="3429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71625" y="3953145"/>
            <a:ext cx="184551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Монетизация</a:t>
            </a:r>
            <a:endParaRPr lang="en-US" sz="1602" dirty="0"/>
          </a:p>
        </p:txBody>
      </p:sp>
      <p:sp>
        <p:nvSpPr>
          <p:cNvPr id="17" name="Text 10"/>
          <p:cNvSpPr/>
          <p:nvPr/>
        </p:nvSpPr>
        <p:spPr>
          <a:xfrm>
            <a:off x="1571625" y="4301403"/>
            <a:ext cx="18455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88888"/>
                </a:solidFill>
              </a:rPr>
              <a:t>REVENUE</a:t>
            </a:r>
            <a:endParaRPr lang="en-US" sz="942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7769" y="4043335"/>
            <a:ext cx="300038" cy="3429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657850" y="3953145"/>
            <a:ext cx="144613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Удержание</a:t>
            </a:r>
            <a:endParaRPr lang="en-US" sz="1602" dirty="0"/>
          </a:p>
        </p:txBody>
      </p:sp>
      <p:sp>
        <p:nvSpPr>
          <p:cNvPr id="20" name="Text 12"/>
          <p:cNvSpPr/>
          <p:nvPr/>
        </p:nvSpPr>
        <p:spPr>
          <a:xfrm>
            <a:off x="5657850" y="4301403"/>
            <a:ext cx="144613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88888"/>
                </a:solidFill>
              </a:rPr>
              <a:t>RETENTION</a:t>
            </a:r>
            <a:endParaRPr lang="en-US" sz="942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9191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8001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Основные метрики продукта</a:t>
            </a:r>
            <a:endParaRPr lang="en-US" sz="3294" dirty="0"/>
          </a:p>
        </p:txBody>
      </p:sp>
      <p:sp>
        <p:nvSpPr>
          <p:cNvPr id="6" name="Shape 2"/>
          <p:cNvSpPr/>
          <p:nvPr/>
        </p:nvSpPr>
        <p:spPr>
          <a:xfrm>
            <a:off x="571500" y="1217284"/>
            <a:ext cx="3893344" cy="1765846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7" name="Text 3"/>
          <p:cNvSpPr/>
          <p:nvPr/>
        </p:nvSpPr>
        <p:spPr>
          <a:xfrm>
            <a:off x="785813" y="1431596"/>
            <a:ext cx="3464719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DAU / MAU</a:t>
            </a:r>
            <a:endParaRPr lang="en-US" sz="1808" dirty="0"/>
          </a:p>
        </p:txBody>
      </p:sp>
      <p:sp>
        <p:nvSpPr>
          <p:cNvPr id="8" name="Text 4"/>
          <p:cNvSpPr/>
          <p:nvPr/>
        </p:nvSpPr>
        <p:spPr>
          <a:xfrm>
            <a:off x="785813" y="1888796"/>
            <a:ext cx="3464719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Показатель «липкости» продукта. Отношение дневной аудитории к месячной. Чем выше — тем чаще возвращаются.</a:t>
            </a:r>
            <a:endParaRPr lang="en-US" sz="1090" dirty="0"/>
          </a:p>
        </p:txBody>
      </p:sp>
      <p:sp>
        <p:nvSpPr>
          <p:cNvPr id="9" name="Shape 5"/>
          <p:cNvSpPr/>
          <p:nvPr/>
        </p:nvSpPr>
        <p:spPr>
          <a:xfrm>
            <a:off x="4679156" y="1217284"/>
            <a:ext cx="3893344" cy="1765846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10" name="Text 6"/>
          <p:cNvSpPr/>
          <p:nvPr/>
        </p:nvSpPr>
        <p:spPr>
          <a:xfrm>
            <a:off x="4893469" y="1541599"/>
            <a:ext cx="3464719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Retention Rate</a:t>
            </a:r>
            <a:endParaRPr lang="en-US" sz="1808" dirty="0"/>
          </a:p>
        </p:txBody>
      </p:sp>
      <p:sp>
        <p:nvSpPr>
          <p:cNvPr id="11" name="Text 7"/>
          <p:cNvSpPr/>
          <p:nvPr/>
        </p:nvSpPr>
        <p:spPr>
          <a:xfrm>
            <a:off x="4893469" y="1998799"/>
            <a:ext cx="3464719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Процент пользователей, которые продолжают использовать продукт через определенный период (Day 1, 7, 30).</a:t>
            </a:r>
            <a:endParaRPr lang="en-US" sz="1090" dirty="0"/>
          </a:p>
        </p:txBody>
      </p:sp>
      <p:sp>
        <p:nvSpPr>
          <p:cNvPr id="12" name="Shape 8"/>
          <p:cNvSpPr/>
          <p:nvPr/>
        </p:nvSpPr>
        <p:spPr>
          <a:xfrm>
            <a:off x="571500" y="3197442"/>
            <a:ext cx="3893344" cy="1765846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13" name="Text 9"/>
          <p:cNvSpPr/>
          <p:nvPr/>
        </p:nvSpPr>
        <p:spPr>
          <a:xfrm>
            <a:off x="785813" y="3521757"/>
            <a:ext cx="3464719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ARPU</a:t>
            </a:r>
            <a:endParaRPr lang="en-US" sz="1808" dirty="0"/>
          </a:p>
        </p:txBody>
      </p:sp>
      <p:sp>
        <p:nvSpPr>
          <p:cNvPr id="14" name="Text 10"/>
          <p:cNvSpPr/>
          <p:nvPr/>
        </p:nvSpPr>
        <p:spPr>
          <a:xfrm>
            <a:off x="785813" y="3978957"/>
            <a:ext cx="3464719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Average Revenue Per User — средний доход на одного пользователя. Ключевой показатель эффективности монетизации.</a:t>
            </a:r>
            <a:endParaRPr lang="en-US" sz="1090" dirty="0"/>
          </a:p>
        </p:txBody>
      </p:sp>
      <p:sp>
        <p:nvSpPr>
          <p:cNvPr id="15" name="Shape 11"/>
          <p:cNvSpPr/>
          <p:nvPr/>
        </p:nvSpPr>
        <p:spPr>
          <a:xfrm>
            <a:off x="4679156" y="3197442"/>
            <a:ext cx="3893344" cy="1765846"/>
          </a:xfrm>
          <a:prstGeom prst="rect">
            <a:avLst/>
          </a:prstGeom>
          <a:solidFill>
            <a:srgbClr val="1A1A1A"/>
          </a:solidFill>
          <a:ln w="18288">
            <a:solidFill>
              <a:srgbClr val="32CD3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93469" y="3521757"/>
            <a:ext cx="3464719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2CD32"/>
                </a:solidFill>
              </a:rPr>
              <a:t>Churn Rate</a:t>
            </a:r>
            <a:endParaRPr lang="en-US" sz="1808" dirty="0"/>
          </a:p>
        </p:txBody>
      </p:sp>
      <p:sp>
        <p:nvSpPr>
          <p:cNvPr id="17" name="Text 13"/>
          <p:cNvSpPr/>
          <p:nvPr/>
        </p:nvSpPr>
        <p:spPr>
          <a:xfrm>
            <a:off x="4893469" y="3978957"/>
            <a:ext cx="3464719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Процент пользователей, которые перестали использовать продукт. Обратная метрика к Retention.</a:t>
            </a:r>
            <a:endParaRPr lang="en-US" sz="109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26EFAD-B38D-DC2F-CC1A-B58861D24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50" y="146050"/>
            <a:ext cx="5219700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525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8001000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FFFFFF"/>
                </a:solidFill>
              </a:rPr>
              <a:t>Популярные фреймворки</a:t>
            </a:r>
            <a:endParaRPr lang="en-US" sz="2862" dirty="0"/>
          </a:p>
        </p:txBody>
      </p:sp>
      <p:sp>
        <p:nvSpPr>
          <p:cNvPr id="6" name="Shape 2"/>
          <p:cNvSpPr/>
          <p:nvPr/>
        </p:nvSpPr>
        <p:spPr>
          <a:xfrm>
            <a:off x="571500" y="1154413"/>
            <a:ext cx="3836194" cy="3560462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7" name="Text 3"/>
          <p:cNvSpPr/>
          <p:nvPr/>
        </p:nvSpPr>
        <p:spPr>
          <a:xfrm>
            <a:off x="857250" y="1440163"/>
            <a:ext cx="326469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2" dirty="0">
                <a:solidFill>
                  <a:srgbClr val="FFFFFF"/>
                </a:solidFill>
              </a:rPr>
              <a:t>AARRR</a:t>
            </a:r>
            <a:endParaRPr lang="en-US" sz="2436" dirty="0"/>
          </a:p>
        </p:txBody>
      </p:sp>
      <p:sp>
        <p:nvSpPr>
          <p:cNvPr id="8" name="Text 4"/>
          <p:cNvSpPr/>
          <p:nvPr/>
        </p:nvSpPr>
        <p:spPr>
          <a:xfrm>
            <a:off x="857250" y="1977730"/>
            <a:ext cx="32646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FFFFFF">
                    <a:alpha val="80000"/>
                  </a:srgbClr>
                </a:solidFill>
              </a:rPr>
              <a:t>Pirate Metrics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857250" y="2386710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90EE90"/>
                </a:solidFill>
              </a:rPr>
              <a:t>A</a:t>
            </a:r>
            <a:endParaRPr lang="en-US" sz="1602" dirty="0"/>
          </a:p>
        </p:txBody>
      </p:sp>
      <p:sp>
        <p:nvSpPr>
          <p:cNvPr id="10" name="Text 6"/>
          <p:cNvSpPr/>
          <p:nvPr/>
        </p:nvSpPr>
        <p:spPr>
          <a:xfrm>
            <a:off x="1250156" y="2426001"/>
            <a:ext cx="219062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Acquisition (Привлечение)</a:t>
            </a:r>
            <a:endParaRPr lang="en-US" sz="1269" dirty="0"/>
          </a:p>
        </p:txBody>
      </p:sp>
      <p:sp>
        <p:nvSpPr>
          <p:cNvPr id="11" name="Text 7"/>
          <p:cNvSpPr/>
          <p:nvPr/>
        </p:nvSpPr>
        <p:spPr>
          <a:xfrm>
            <a:off x="857250" y="2806405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90EE90"/>
                </a:solidFill>
              </a:rPr>
              <a:t>A</a:t>
            </a:r>
            <a:endParaRPr lang="en-US" sz="1602" dirty="0"/>
          </a:p>
        </p:txBody>
      </p:sp>
      <p:sp>
        <p:nvSpPr>
          <p:cNvPr id="12" name="Text 8"/>
          <p:cNvSpPr/>
          <p:nvPr/>
        </p:nvSpPr>
        <p:spPr>
          <a:xfrm>
            <a:off x="1250156" y="2845696"/>
            <a:ext cx="184601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Activation (Активация)</a:t>
            </a:r>
            <a:endParaRPr lang="en-US" sz="1269" dirty="0"/>
          </a:p>
        </p:txBody>
      </p:sp>
      <p:sp>
        <p:nvSpPr>
          <p:cNvPr id="13" name="Text 9"/>
          <p:cNvSpPr/>
          <p:nvPr/>
        </p:nvSpPr>
        <p:spPr>
          <a:xfrm>
            <a:off x="857250" y="3226101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90EE90"/>
                </a:solidFill>
              </a:rPr>
              <a:t>R</a:t>
            </a:r>
            <a:endParaRPr lang="en-US" sz="1602" dirty="0"/>
          </a:p>
        </p:txBody>
      </p:sp>
      <p:sp>
        <p:nvSpPr>
          <p:cNvPr id="14" name="Text 10"/>
          <p:cNvSpPr/>
          <p:nvPr/>
        </p:nvSpPr>
        <p:spPr>
          <a:xfrm>
            <a:off x="1250156" y="3265391"/>
            <a:ext cx="186711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Retention (Удержание)</a:t>
            </a:r>
            <a:endParaRPr lang="en-US" sz="1269" dirty="0"/>
          </a:p>
        </p:txBody>
      </p:sp>
      <p:sp>
        <p:nvSpPr>
          <p:cNvPr id="15" name="Text 11"/>
          <p:cNvSpPr/>
          <p:nvPr/>
        </p:nvSpPr>
        <p:spPr>
          <a:xfrm>
            <a:off x="857250" y="3645796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90EE90"/>
                </a:solidFill>
              </a:rPr>
              <a:t>R</a:t>
            </a:r>
            <a:endParaRPr lang="en-US" sz="1602" dirty="0"/>
          </a:p>
        </p:txBody>
      </p:sp>
      <p:sp>
        <p:nvSpPr>
          <p:cNvPr id="16" name="Text 12"/>
          <p:cNvSpPr/>
          <p:nvPr/>
        </p:nvSpPr>
        <p:spPr>
          <a:xfrm>
            <a:off x="1250156" y="3685087"/>
            <a:ext cx="134916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Revenue (Доход)</a:t>
            </a:r>
            <a:endParaRPr lang="en-US" sz="1269" dirty="0"/>
          </a:p>
        </p:txBody>
      </p:sp>
      <p:sp>
        <p:nvSpPr>
          <p:cNvPr id="17" name="Text 13"/>
          <p:cNvSpPr/>
          <p:nvPr/>
        </p:nvSpPr>
        <p:spPr>
          <a:xfrm>
            <a:off x="857250" y="4065491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90EE90"/>
                </a:solidFill>
              </a:rPr>
              <a:t>R</a:t>
            </a:r>
            <a:endParaRPr lang="en-US" sz="1602" dirty="0"/>
          </a:p>
        </p:txBody>
      </p:sp>
      <p:sp>
        <p:nvSpPr>
          <p:cNvPr id="18" name="Text 14"/>
          <p:cNvSpPr/>
          <p:nvPr/>
        </p:nvSpPr>
        <p:spPr>
          <a:xfrm>
            <a:off x="1250156" y="4104782"/>
            <a:ext cx="203496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Referral (Рекомендации)</a:t>
            </a:r>
            <a:endParaRPr lang="en-US" sz="1269" dirty="0"/>
          </a:p>
        </p:txBody>
      </p:sp>
      <p:sp>
        <p:nvSpPr>
          <p:cNvPr id="19" name="Shape 15"/>
          <p:cNvSpPr/>
          <p:nvPr/>
        </p:nvSpPr>
        <p:spPr>
          <a:xfrm>
            <a:off x="4693444" y="1154413"/>
            <a:ext cx="3879056" cy="3560462"/>
          </a:xfrm>
          <a:prstGeom prst="rect">
            <a:avLst/>
          </a:prstGeom>
          <a:solidFill>
            <a:srgbClr val="111111"/>
          </a:solidFill>
          <a:ln w="18288">
            <a:solidFill>
              <a:srgbClr val="32CD3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00625" y="1440163"/>
            <a:ext cx="328612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2" dirty="0">
                <a:solidFill>
                  <a:srgbClr val="FFFFFF"/>
                </a:solidFill>
              </a:rPr>
              <a:t>HEART</a:t>
            </a:r>
            <a:endParaRPr lang="en-US" sz="2436" dirty="0"/>
          </a:p>
        </p:txBody>
      </p:sp>
      <p:sp>
        <p:nvSpPr>
          <p:cNvPr id="21" name="Text 17"/>
          <p:cNvSpPr/>
          <p:nvPr/>
        </p:nvSpPr>
        <p:spPr>
          <a:xfrm>
            <a:off x="5000625" y="1977730"/>
            <a:ext cx="3286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FFFFFF">
                    <a:alpha val="80000"/>
                  </a:srgbClr>
                </a:solidFill>
              </a:rPr>
              <a:t>Google Framework</a:t>
            </a:r>
            <a:endParaRPr lang="en-US" sz="987" dirty="0"/>
          </a:p>
        </p:txBody>
      </p:sp>
      <p:sp>
        <p:nvSpPr>
          <p:cNvPr id="22" name="Text 18"/>
          <p:cNvSpPr/>
          <p:nvPr/>
        </p:nvSpPr>
        <p:spPr>
          <a:xfrm>
            <a:off x="5000625" y="2386710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2CD32"/>
                </a:solidFill>
              </a:rPr>
              <a:t>H</a:t>
            </a:r>
            <a:endParaRPr lang="en-US" sz="1602" dirty="0"/>
          </a:p>
        </p:txBody>
      </p:sp>
      <p:sp>
        <p:nvSpPr>
          <p:cNvPr id="23" name="Text 19"/>
          <p:cNvSpPr/>
          <p:nvPr/>
        </p:nvSpPr>
        <p:spPr>
          <a:xfrm>
            <a:off x="5393531" y="2426001"/>
            <a:ext cx="166136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Happiness (Счастье)</a:t>
            </a:r>
            <a:endParaRPr lang="en-US" sz="1269" dirty="0"/>
          </a:p>
        </p:txBody>
      </p:sp>
      <p:sp>
        <p:nvSpPr>
          <p:cNvPr id="24" name="Text 20"/>
          <p:cNvSpPr/>
          <p:nvPr/>
        </p:nvSpPr>
        <p:spPr>
          <a:xfrm>
            <a:off x="5000625" y="2806405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2CD32"/>
                </a:solidFill>
              </a:rPr>
              <a:t>E</a:t>
            </a:r>
            <a:endParaRPr lang="en-US" sz="1602" dirty="0"/>
          </a:p>
        </p:txBody>
      </p:sp>
      <p:sp>
        <p:nvSpPr>
          <p:cNvPr id="25" name="Text 21"/>
          <p:cNvSpPr/>
          <p:nvPr/>
        </p:nvSpPr>
        <p:spPr>
          <a:xfrm>
            <a:off x="5393531" y="2845696"/>
            <a:ext cx="24767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Engagement (Вовлеченность)</a:t>
            </a:r>
            <a:endParaRPr lang="en-US" sz="1269" dirty="0"/>
          </a:p>
        </p:txBody>
      </p:sp>
      <p:sp>
        <p:nvSpPr>
          <p:cNvPr id="26" name="Text 22"/>
          <p:cNvSpPr/>
          <p:nvPr/>
        </p:nvSpPr>
        <p:spPr>
          <a:xfrm>
            <a:off x="5000625" y="3226101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2CD32"/>
                </a:solidFill>
              </a:rPr>
              <a:t>A</a:t>
            </a:r>
            <a:endParaRPr lang="en-US" sz="1602" dirty="0"/>
          </a:p>
        </p:txBody>
      </p:sp>
      <p:sp>
        <p:nvSpPr>
          <p:cNvPr id="27" name="Text 23"/>
          <p:cNvSpPr/>
          <p:nvPr/>
        </p:nvSpPr>
        <p:spPr>
          <a:xfrm>
            <a:off x="5393531" y="3265391"/>
            <a:ext cx="172206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Adoption (Принятие)</a:t>
            </a:r>
            <a:endParaRPr lang="en-US" sz="1269" dirty="0"/>
          </a:p>
        </p:txBody>
      </p:sp>
      <p:sp>
        <p:nvSpPr>
          <p:cNvPr id="28" name="Text 24"/>
          <p:cNvSpPr/>
          <p:nvPr/>
        </p:nvSpPr>
        <p:spPr>
          <a:xfrm>
            <a:off x="5000625" y="3645796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2CD32"/>
                </a:solidFill>
              </a:rPr>
              <a:t>R</a:t>
            </a:r>
            <a:endParaRPr lang="en-US" sz="1602" dirty="0"/>
          </a:p>
        </p:txBody>
      </p:sp>
      <p:sp>
        <p:nvSpPr>
          <p:cNvPr id="29" name="Text 25"/>
          <p:cNvSpPr/>
          <p:nvPr/>
        </p:nvSpPr>
        <p:spPr>
          <a:xfrm>
            <a:off x="5393531" y="3685087"/>
            <a:ext cx="186711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Retention (Удержание)</a:t>
            </a:r>
            <a:endParaRPr lang="en-US" sz="1269" dirty="0"/>
          </a:p>
        </p:txBody>
      </p:sp>
      <p:sp>
        <p:nvSpPr>
          <p:cNvPr id="30" name="Text 26"/>
          <p:cNvSpPr/>
          <p:nvPr/>
        </p:nvSpPr>
        <p:spPr>
          <a:xfrm>
            <a:off x="5000625" y="4065491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2CD32"/>
                </a:solidFill>
              </a:rPr>
              <a:t>T</a:t>
            </a:r>
            <a:endParaRPr lang="en-US" sz="1602" dirty="0"/>
          </a:p>
        </p:txBody>
      </p:sp>
      <p:sp>
        <p:nvSpPr>
          <p:cNvPr id="31" name="Text 27"/>
          <p:cNvSpPr/>
          <p:nvPr/>
        </p:nvSpPr>
        <p:spPr>
          <a:xfrm>
            <a:off x="5393531" y="4104782"/>
            <a:ext cx="228527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Task Success (Успех задачи)</a:t>
            </a:r>
            <a:endParaRPr lang="en-US" sz="1269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714375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000000"/>
                </a:solidFill>
              </a:rPr>
              <a:t>Продукт и маркетинг
работают вместе</a:t>
            </a:r>
            <a:endParaRPr lang="en-US" sz="3294" dirty="0"/>
          </a:p>
        </p:txBody>
      </p:sp>
      <p:sp>
        <p:nvSpPr>
          <p:cNvPr id="6" name="Shape 2"/>
          <p:cNvSpPr/>
          <p:nvPr/>
        </p:nvSpPr>
        <p:spPr>
          <a:xfrm>
            <a:off x="1343025" y="1997376"/>
            <a:ext cx="2714625" cy="1500188"/>
          </a:xfrm>
          <a:prstGeom prst="rect">
            <a:avLst/>
          </a:prstGeom>
          <a:solidFill>
            <a:srgbClr val="FFFFFF">
              <a:alpha val="20000"/>
            </a:srgbClr>
          </a:solidFill>
          <a:ln w="45720">
            <a:solidFill>
              <a:srgbClr val="0000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96024" y="2361707"/>
            <a:ext cx="1608627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000000"/>
                </a:solidFill>
              </a:rPr>
              <a:t>PRODUCT</a:t>
            </a:r>
            <a:endParaRPr lang="en-US" sz="2436" dirty="0"/>
          </a:p>
        </p:txBody>
      </p:sp>
      <p:sp>
        <p:nvSpPr>
          <p:cNvPr id="8" name="Text 4"/>
          <p:cNvSpPr/>
          <p:nvPr/>
        </p:nvSpPr>
        <p:spPr>
          <a:xfrm>
            <a:off x="1914748" y="2899274"/>
            <a:ext cx="15711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>
                    <a:alpha val="80000"/>
                  </a:srgbClr>
                </a:solidFill>
              </a:rPr>
              <a:t>Создает ценность</a:t>
            </a:r>
            <a:endParaRPr lang="en-US" sz="1193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2518870"/>
            <a:ext cx="457200" cy="4572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086350" y="1997376"/>
            <a:ext cx="2714625" cy="1500188"/>
          </a:xfrm>
          <a:prstGeom prst="rect">
            <a:avLst/>
          </a:prstGeom>
          <a:solidFill>
            <a:srgbClr val="FFFFFF">
              <a:alpha val="20000"/>
            </a:srgbClr>
          </a:solidFill>
          <a:ln w="4572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410916" y="2361707"/>
            <a:ext cx="206546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000000"/>
                </a:solidFill>
              </a:rPr>
              <a:t>MARKETING</a:t>
            </a:r>
            <a:endParaRPr lang="en-US" sz="2436" dirty="0"/>
          </a:p>
        </p:txBody>
      </p:sp>
      <p:sp>
        <p:nvSpPr>
          <p:cNvPr id="12" name="Text 7"/>
          <p:cNvSpPr/>
          <p:nvPr/>
        </p:nvSpPr>
        <p:spPr>
          <a:xfrm>
            <a:off x="5638512" y="2899274"/>
            <a:ext cx="161027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>
                    <a:alpha val="80000"/>
                  </a:srgbClr>
                </a:solidFill>
              </a:rPr>
              <a:t>Доносит ценность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1357313" y="3711876"/>
            <a:ext cx="6429375" cy="101153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Продуктовая команда создает ценность и измеряет её метриками. Маркетинг привлекает пользователей на эту ценность. Успех — в синергии.</a:t>
            </a:r>
            <a:endParaRPr lang="en-US" sz="139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1014</Words>
  <Application>Microsoft Macintosh PowerPoint</Application>
  <PresentationFormat>Экран (16:9)</PresentationFormat>
  <Paragraphs>275</Paragraphs>
  <Slides>35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0" baseType="lpstr">
      <vt:lpstr>Exo 2</vt:lpstr>
      <vt:lpstr>Times New Roman</vt:lpstr>
      <vt:lpstr>Roboto</vt:lpstr>
      <vt:lpstr>Arial</vt:lpstr>
      <vt:lpstr>Simple Light</vt:lpstr>
      <vt:lpstr>ЦЕЛИ И ЭФФЕКТИВНОСТЬ МАРКЕТИНГА</vt:lpstr>
      <vt:lpstr>Презентация PowerPoint</vt:lpstr>
      <vt:lpstr>Цели маркетинга?</vt:lpstr>
      <vt:lpstr>Цели маркетинга?</vt:lpstr>
      <vt:lpstr>Цели маркетинга?</vt:lpstr>
      <vt:lpstr>Цели маркетинга?</vt:lpstr>
      <vt:lpstr>Цели маркетинга?</vt:lpstr>
      <vt:lpstr>Цели маркетинга?</vt:lpstr>
      <vt:lpstr>Цели маркетинга?</vt:lpstr>
      <vt:lpstr>Цели маркетинга?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1.  Цели и метрики маркетинга</dc:title>
  <dc:creator>Olga Suchkova</dc:creator>
  <cp:lastModifiedBy>KirillSadchikov</cp:lastModifiedBy>
  <cp:revision>45</cp:revision>
  <dcterms:modified xsi:type="dcterms:W3CDTF">2026-02-02T17:46:34Z</dcterms:modified>
</cp:coreProperties>
</file>